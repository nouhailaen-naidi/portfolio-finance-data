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4"/>
  </p:sldMasterIdLst>
  <p:notesMasterIdLst>
    <p:notesMasterId r:id="rId11"/>
  </p:notesMasterIdLst>
  <p:handoutMasterIdLst>
    <p:handoutMasterId r:id="rId12"/>
  </p:handoutMasterIdLst>
  <p:sldIdLst>
    <p:sldId id="256" r:id="rId5"/>
    <p:sldId id="257" r:id="rId6"/>
    <p:sldId id="267" r:id="rId7"/>
    <p:sldId id="265" r:id="rId8"/>
    <p:sldId id="266" r:id="rId9"/>
    <p:sldId id="264" r:id="rId1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24" userDrawn="1">
          <p15:clr>
            <a:srgbClr val="A4A3A4"/>
          </p15:clr>
        </p15:guide>
        <p15:guide id="2" pos="3840" userDrawn="1">
          <p15:clr>
            <a:srgbClr val="A4A3A4"/>
          </p15:clr>
        </p15:guide>
        <p15:guide id="3" pos="192" userDrawn="1">
          <p15:clr>
            <a:srgbClr val="A4A3A4"/>
          </p15:clr>
        </p15:guide>
        <p15:guide id="4" pos="7512" userDrawn="1">
          <p15:clr>
            <a:srgbClr val="A4A3A4"/>
          </p15:clr>
        </p15:guide>
        <p15:guide id="5" orient="horz" pos="216" userDrawn="1">
          <p15:clr>
            <a:srgbClr val="A4A3A4"/>
          </p15:clr>
        </p15:guide>
        <p15:guide id="6" orient="horz" pos="4032" userDrawn="1">
          <p15:clr>
            <a:srgbClr val="A4A3A4"/>
          </p15:clr>
        </p15:guide>
        <p15:guide id="7" orient="horz" pos="69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a:srgbClr val="7F7F7F"/>
    <a:srgbClr val="404040"/>
    <a:srgbClr val="CE295E"/>
    <a:srgbClr val="A6A6A6"/>
    <a:srgbClr val="F2F2F2"/>
    <a:srgbClr val="BFBFBF"/>
    <a:srgbClr val="E37777"/>
    <a:srgbClr val="64A4CA"/>
    <a:srgbClr val="66C5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66" d="100"/>
          <a:sy n="66" d="100"/>
        </p:scale>
        <p:origin x="668" y="44"/>
      </p:cViewPr>
      <p:guideLst>
        <p:guide orient="horz" pos="2424"/>
        <p:guide pos="3840"/>
        <p:guide pos="192"/>
        <p:guide pos="7512"/>
        <p:guide orient="horz" pos="216"/>
        <p:guide orient="horz" pos="4032"/>
        <p:guide orient="horz" pos="696"/>
      </p:guideLst>
    </p:cSldViewPr>
  </p:slideViewPr>
  <p:notesTextViewPr>
    <p:cViewPr>
      <p:scale>
        <a:sx n="1" d="1"/>
        <a:sy n="1" d="1"/>
      </p:scale>
      <p:origin x="0" y="0"/>
    </p:cViewPr>
  </p:notesTextViewPr>
  <p:notesViewPr>
    <p:cSldViewPr snapToGrid="0">
      <p:cViewPr varScale="1">
        <p:scale>
          <a:sx n="88" d="100"/>
          <a:sy n="88" d="100"/>
        </p:scale>
        <p:origin x="3048"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https://d.docs.live.net/05fe77230cb5dcd9/Desktop/analyse%20fin%20OCP.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05fe77230cb5dcd9/Desktop/RATIO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05fe77230cb5dcd9/Desktop/RATIO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05fe77230cb5dcd9/Desktop/RATIO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05fe77230cb5dcd9/Desktop/RATIO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05fe77230cb5dcd9/Desktop/RATIO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05fe77230cb5dcd9/Desktop/RATIO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05fe77230cb5dcd9/Desktop/RATIOS.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337270341207351"/>
          <c:y val="0.19486111111111112"/>
          <c:w val="0.7699606299212598"/>
          <c:h val="0.59275408282298037"/>
        </c:manualLayout>
      </c:layout>
      <c:barChart>
        <c:barDir val="col"/>
        <c:grouping val="clustered"/>
        <c:varyColors val="0"/>
        <c:ser>
          <c:idx val="1"/>
          <c:order val="1"/>
          <c:tx>
            <c:strRef>
              <c:f>'Équilibres financiers'!$B$1</c:f>
              <c:strCache>
                <c:ptCount val="1"/>
                <c:pt idx="0">
                  <c:v>FRF</c:v>
                </c:pt>
              </c:strCache>
            </c:strRef>
          </c:tx>
          <c:spPr>
            <a:solidFill>
              <a:schemeClr val="accent4"/>
            </a:solidFill>
            <a:ln>
              <a:noFill/>
            </a:ln>
            <a:effectLst/>
          </c:spPr>
          <c:invertIfNegative val="0"/>
          <c:dPt>
            <c:idx val="0"/>
            <c:invertIfNegative val="0"/>
            <c:bubble3D val="0"/>
            <c:spPr>
              <a:solidFill>
                <a:schemeClr val="accent4"/>
              </a:solidFill>
              <a:ln>
                <a:noFill/>
              </a:ln>
              <a:effectLst/>
            </c:spPr>
            <c:extLst>
              <c:ext xmlns:c16="http://schemas.microsoft.com/office/drawing/2014/chart" uri="{C3380CC4-5D6E-409C-BE32-E72D297353CC}">
                <c16:uniqueId val="{00000001-2603-4AC7-ACF2-1F7D47EB0738}"/>
              </c:ext>
            </c:extLst>
          </c:dPt>
          <c:cat>
            <c:numRef>
              <c:f>'Équilibres financiers'!$A$2:$A$4</c:f>
              <c:numCache>
                <c:formatCode>General</c:formatCode>
                <c:ptCount val="3"/>
                <c:pt idx="0">
                  <c:v>2023</c:v>
                </c:pt>
                <c:pt idx="1">
                  <c:v>2024</c:v>
                </c:pt>
                <c:pt idx="2">
                  <c:v>2025</c:v>
                </c:pt>
              </c:numCache>
            </c:numRef>
          </c:cat>
          <c:val>
            <c:numRef>
              <c:f>'Équilibres financiers'!$B$2:$B$4</c:f>
              <c:numCache>
                <c:formatCode>0.00</c:formatCode>
                <c:ptCount val="3"/>
                <c:pt idx="0">
                  <c:v>-170419733.22</c:v>
                </c:pt>
                <c:pt idx="1">
                  <c:v>1177695530.3699999</c:v>
                </c:pt>
                <c:pt idx="2">
                  <c:v>2156516899.5599999</c:v>
                </c:pt>
              </c:numCache>
            </c:numRef>
          </c:val>
          <c:extLst>
            <c:ext xmlns:c16="http://schemas.microsoft.com/office/drawing/2014/chart" uri="{C3380CC4-5D6E-409C-BE32-E72D297353CC}">
              <c16:uniqueId val="{00000002-2603-4AC7-ACF2-1F7D47EB0738}"/>
            </c:ext>
          </c:extLst>
        </c:ser>
        <c:ser>
          <c:idx val="2"/>
          <c:order val="2"/>
          <c:tx>
            <c:strRef>
              <c:f>'Équilibres financiers'!$C$1</c:f>
              <c:strCache>
                <c:ptCount val="1"/>
                <c:pt idx="0">
                  <c:v>BFRG</c:v>
                </c:pt>
              </c:strCache>
            </c:strRef>
          </c:tx>
          <c:spPr>
            <a:solidFill>
              <a:schemeClr val="accent6"/>
            </a:solidFill>
            <a:ln>
              <a:noFill/>
            </a:ln>
            <a:effectLst/>
          </c:spPr>
          <c:invertIfNegative val="0"/>
          <c:cat>
            <c:numRef>
              <c:f>'Équilibres financiers'!$A$2:$A$4</c:f>
              <c:numCache>
                <c:formatCode>General</c:formatCode>
                <c:ptCount val="3"/>
                <c:pt idx="0">
                  <c:v>2023</c:v>
                </c:pt>
                <c:pt idx="1">
                  <c:v>2024</c:v>
                </c:pt>
                <c:pt idx="2">
                  <c:v>2025</c:v>
                </c:pt>
              </c:numCache>
            </c:numRef>
          </c:cat>
          <c:val>
            <c:numRef>
              <c:f>'Équilibres financiers'!$C$2:$C$4</c:f>
              <c:numCache>
                <c:formatCode>0.00</c:formatCode>
                <c:ptCount val="3"/>
                <c:pt idx="0">
                  <c:v>-245773781.96000001</c:v>
                </c:pt>
                <c:pt idx="1">
                  <c:v>981196754.19000006</c:v>
                </c:pt>
                <c:pt idx="2">
                  <c:v>2034969650.25</c:v>
                </c:pt>
              </c:numCache>
            </c:numRef>
          </c:val>
          <c:extLst>
            <c:ext xmlns:c16="http://schemas.microsoft.com/office/drawing/2014/chart" uri="{C3380CC4-5D6E-409C-BE32-E72D297353CC}">
              <c16:uniqueId val="{00000003-2603-4AC7-ACF2-1F7D47EB0738}"/>
            </c:ext>
          </c:extLst>
        </c:ser>
        <c:ser>
          <c:idx val="3"/>
          <c:order val="3"/>
          <c:tx>
            <c:strRef>
              <c:f>'Équilibres financiers'!$D$1</c:f>
              <c:strCache>
                <c:ptCount val="1"/>
                <c:pt idx="0">
                  <c:v>TN</c:v>
                </c:pt>
              </c:strCache>
            </c:strRef>
          </c:tx>
          <c:spPr>
            <a:solidFill>
              <a:schemeClr val="accent2">
                <a:lumMod val="60000"/>
              </a:schemeClr>
            </a:solidFill>
            <a:ln>
              <a:noFill/>
            </a:ln>
            <a:effectLst/>
          </c:spPr>
          <c:invertIfNegative val="0"/>
          <c:cat>
            <c:numRef>
              <c:f>'Équilibres financiers'!$A$2:$A$4</c:f>
              <c:numCache>
                <c:formatCode>General</c:formatCode>
                <c:ptCount val="3"/>
                <c:pt idx="0">
                  <c:v>2023</c:v>
                </c:pt>
                <c:pt idx="1">
                  <c:v>2024</c:v>
                </c:pt>
                <c:pt idx="2">
                  <c:v>2025</c:v>
                </c:pt>
              </c:numCache>
            </c:numRef>
          </c:cat>
          <c:val>
            <c:numRef>
              <c:f>'Équilibres financiers'!$D$2:$D$4</c:f>
              <c:numCache>
                <c:formatCode>0.00</c:formatCode>
                <c:ptCount val="3"/>
                <c:pt idx="0">
                  <c:v>75354048.739999995</c:v>
                </c:pt>
                <c:pt idx="1">
                  <c:v>196498776.18000001</c:v>
                </c:pt>
                <c:pt idx="2">
                  <c:v>121547249.31</c:v>
                </c:pt>
              </c:numCache>
            </c:numRef>
          </c:val>
          <c:extLst>
            <c:ext xmlns:c16="http://schemas.microsoft.com/office/drawing/2014/chart" uri="{C3380CC4-5D6E-409C-BE32-E72D297353CC}">
              <c16:uniqueId val="{00000004-2603-4AC7-ACF2-1F7D47EB0738}"/>
            </c:ext>
          </c:extLst>
        </c:ser>
        <c:dLbls>
          <c:showLegendKey val="0"/>
          <c:showVal val="0"/>
          <c:showCatName val="0"/>
          <c:showSerName val="0"/>
          <c:showPercent val="0"/>
          <c:showBubbleSize val="0"/>
        </c:dLbls>
        <c:gapWidth val="219"/>
        <c:overlap val="-27"/>
        <c:axId val="1103560351"/>
        <c:axId val="1103574751"/>
        <c:extLst>
          <c:ext xmlns:c15="http://schemas.microsoft.com/office/drawing/2012/chart" uri="{02D57815-91ED-43cb-92C2-25804820EDAC}">
            <c15:filteredBarSeries>
              <c15:ser>
                <c:idx val="0"/>
                <c:order val="0"/>
                <c:tx>
                  <c:strRef>
                    <c:extLst>
                      <c:ext uri="{02D57815-91ED-43cb-92C2-25804820EDAC}">
                        <c15:formulaRef>
                          <c15:sqref>'Équilibres financiers'!$A$1</c15:sqref>
                        </c15:formulaRef>
                      </c:ext>
                    </c:extLst>
                    <c:strCache>
                      <c:ptCount val="1"/>
                      <c:pt idx="0">
                        <c:v>Année</c:v>
                      </c:pt>
                    </c:strCache>
                  </c:strRef>
                </c:tx>
                <c:spPr>
                  <a:solidFill>
                    <a:schemeClr val="accent2"/>
                  </a:solidFill>
                  <a:ln>
                    <a:noFill/>
                  </a:ln>
                  <a:effectLst/>
                </c:spPr>
                <c:invertIfNegative val="0"/>
                <c:cat>
                  <c:numRef>
                    <c:extLst>
                      <c:ext uri="{02D57815-91ED-43cb-92C2-25804820EDAC}">
                        <c15:formulaRef>
                          <c15:sqref>'Équilibres financiers'!$A$2:$A$4</c15:sqref>
                        </c15:formulaRef>
                      </c:ext>
                    </c:extLst>
                    <c:numCache>
                      <c:formatCode>General</c:formatCode>
                      <c:ptCount val="3"/>
                      <c:pt idx="0">
                        <c:v>2023</c:v>
                      </c:pt>
                      <c:pt idx="1">
                        <c:v>2024</c:v>
                      </c:pt>
                      <c:pt idx="2">
                        <c:v>2025</c:v>
                      </c:pt>
                    </c:numCache>
                  </c:numRef>
                </c:cat>
                <c:val>
                  <c:numRef>
                    <c:extLst>
                      <c:ext uri="{02D57815-91ED-43cb-92C2-25804820EDAC}">
                        <c15:formulaRef>
                          <c15:sqref>'Équilibres financiers'!$A$2:$A$4</c15:sqref>
                        </c15:formulaRef>
                      </c:ext>
                    </c:extLst>
                    <c:numCache>
                      <c:formatCode>General</c:formatCode>
                      <c:ptCount val="3"/>
                      <c:pt idx="0">
                        <c:v>2023</c:v>
                      </c:pt>
                      <c:pt idx="1">
                        <c:v>2024</c:v>
                      </c:pt>
                      <c:pt idx="2">
                        <c:v>2025</c:v>
                      </c:pt>
                    </c:numCache>
                  </c:numRef>
                </c:val>
                <c:extLst>
                  <c:ext xmlns:c16="http://schemas.microsoft.com/office/drawing/2014/chart" uri="{C3380CC4-5D6E-409C-BE32-E72D297353CC}">
                    <c16:uniqueId val="{00000005-2603-4AC7-ACF2-1F7D47EB0738}"/>
                  </c:ext>
                </c:extLst>
              </c15:ser>
            </c15:filteredBarSeries>
          </c:ext>
        </c:extLst>
      </c:barChart>
      <c:catAx>
        <c:axId val="11035603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192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03574751"/>
        <c:crosses val="autoZero"/>
        <c:auto val="1"/>
        <c:lblAlgn val="ctr"/>
        <c:lblOffset val="100"/>
        <c:noMultiLvlLbl val="0"/>
      </c:catAx>
      <c:valAx>
        <c:axId val="1103574751"/>
        <c:scaling>
          <c:orientation val="minMax"/>
        </c:scaling>
        <c:delete val="0"/>
        <c:axPos val="l"/>
        <c:majorGridlines>
          <c:spPr>
            <a:ln w="9525" cap="flat" cmpd="sng" algn="ctr">
              <a:solidFill>
                <a:schemeClr val="tx1">
                  <a:lumMod val="15000"/>
                  <a:lumOff val="85000"/>
                </a:schemeClr>
              </a:solidFill>
              <a:round/>
            </a:ln>
            <a:effectLst/>
          </c:spPr>
        </c:majorGridlines>
        <c:numFmt formatCode="_-* #,##0\ [$DH-380C]_-;\-* #,##0\ [$DH-380C]_-;_-* &quot;-&quot;\ [$DH-380C]_-;_-@_-"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035603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249651372773604"/>
          <c:y val="0.10277307051284645"/>
          <c:w val="0.87254773742185499"/>
          <c:h val="0.66155658165143894"/>
        </c:manualLayout>
      </c:layout>
      <c:lineChart>
        <c:grouping val="percentStacked"/>
        <c:varyColors val="0"/>
        <c:ser>
          <c:idx val="0"/>
          <c:order val="0"/>
          <c:tx>
            <c:strRef>
              <c:f>'Ratios de liquidité'!$B$1</c:f>
              <c:strCache>
                <c:ptCount val="1"/>
                <c:pt idx="0">
                  <c:v>Ratio de liquidité générale </c:v>
                </c:pt>
              </c:strCache>
            </c:strRef>
          </c:tx>
          <c:spPr>
            <a:ln w="28575" cap="rnd">
              <a:solidFill>
                <a:schemeClr val="accent2"/>
              </a:solidFill>
              <a:round/>
            </a:ln>
            <a:effectLst/>
          </c:spPr>
          <c:marker>
            <c:symbol val="none"/>
          </c:marker>
          <c:cat>
            <c:numRef>
              <c:f>'Ratios de liquidité'!$A$2:$A$4</c:f>
              <c:numCache>
                <c:formatCode>General</c:formatCode>
                <c:ptCount val="3"/>
                <c:pt idx="0">
                  <c:v>2023</c:v>
                </c:pt>
                <c:pt idx="1">
                  <c:v>2024</c:v>
                </c:pt>
                <c:pt idx="2">
                  <c:v>2025</c:v>
                </c:pt>
              </c:numCache>
              <c:extLst/>
            </c:numRef>
          </c:cat>
          <c:val>
            <c:numRef>
              <c:f>'Ratios de liquidité'!$A$2:$C$2</c:f>
              <c:numCache>
                <c:formatCode>General</c:formatCode>
                <c:ptCount val="3"/>
                <c:pt idx="0">
                  <c:v>2023</c:v>
                </c:pt>
                <c:pt idx="1">
                  <c:v>0.90960044299999998</c:v>
                </c:pt>
                <c:pt idx="2">
                  <c:v>2.7716432999999999E-2</c:v>
                </c:pt>
              </c:numCache>
              <c:extLst/>
            </c:numRef>
          </c:val>
          <c:smooth val="0"/>
          <c:extLst>
            <c:ext xmlns:c16="http://schemas.microsoft.com/office/drawing/2014/chart" uri="{C3380CC4-5D6E-409C-BE32-E72D297353CC}">
              <c16:uniqueId val="{00000000-99D8-4D15-9F4D-EF15B670F8FE}"/>
            </c:ext>
          </c:extLst>
        </c:ser>
        <c:ser>
          <c:idx val="1"/>
          <c:order val="1"/>
          <c:tx>
            <c:strRef>
              <c:f>'Ratios de liquidité'!$C$1</c:f>
              <c:strCache>
                <c:ptCount val="1"/>
                <c:pt idx="0">
                  <c:v>Ratio de liquidité immédiate</c:v>
                </c:pt>
              </c:strCache>
            </c:strRef>
          </c:tx>
          <c:spPr>
            <a:ln w="28575" cap="rnd">
              <a:solidFill>
                <a:schemeClr val="accent4"/>
              </a:solidFill>
              <a:round/>
            </a:ln>
            <a:effectLst/>
          </c:spPr>
          <c:marker>
            <c:symbol val="none"/>
          </c:marker>
          <c:cat>
            <c:numRef>
              <c:f>'Ratios de liquidité'!$A$2:$A$4</c:f>
              <c:numCache>
                <c:formatCode>General</c:formatCode>
                <c:ptCount val="3"/>
                <c:pt idx="0">
                  <c:v>2023</c:v>
                </c:pt>
                <c:pt idx="1">
                  <c:v>2024</c:v>
                </c:pt>
                <c:pt idx="2">
                  <c:v>2025</c:v>
                </c:pt>
              </c:numCache>
              <c:extLst/>
            </c:numRef>
          </c:cat>
          <c:val>
            <c:numRef>
              <c:f>'Ratios de liquidité'!$A$3:$C$3</c:f>
              <c:numCache>
                <c:formatCode>General</c:formatCode>
                <c:ptCount val="3"/>
                <c:pt idx="0">
                  <c:v>2024</c:v>
                </c:pt>
                <c:pt idx="1">
                  <c:v>1.6508953159999999</c:v>
                </c:pt>
                <c:pt idx="2">
                  <c:v>0.13035115799999999</c:v>
                </c:pt>
              </c:numCache>
              <c:extLst/>
            </c:numRef>
          </c:val>
          <c:smooth val="0"/>
          <c:extLst>
            <c:ext xmlns:c16="http://schemas.microsoft.com/office/drawing/2014/chart" uri="{C3380CC4-5D6E-409C-BE32-E72D297353CC}">
              <c16:uniqueId val="{00000001-99D8-4D15-9F4D-EF15B670F8FE}"/>
            </c:ext>
          </c:extLst>
        </c:ser>
        <c:ser>
          <c:idx val="2"/>
          <c:order val="2"/>
          <c:tx>
            <c:strRef>
              <c:f>'Ratios de liquidité'!$D$1</c:f>
              <c:strCache>
                <c:ptCount val="1"/>
                <c:pt idx="0">
                  <c:v>Ratios de liquidité réduite</c:v>
                </c:pt>
              </c:strCache>
            </c:strRef>
          </c:tx>
          <c:spPr>
            <a:ln w="28575" cap="rnd">
              <a:solidFill>
                <a:schemeClr val="accent6"/>
              </a:solidFill>
              <a:round/>
            </a:ln>
            <a:effectLst/>
          </c:spPr>
          <c:marker>
            <c:symbol val="none"/>
          </c:marker>
          <c:cat>
            <c:numRef>
              <c:f>'Ratios de liquidité'!$A$2:$A$4</c:f>
              <c:numCache>
                <c:formatCode>General</c:formatCode>
                <c:ptCount val="3"/>
                <c:pt idx="0">
                  <c:v>2023</c:v>
                </c:pt>
                <c:pt idx="1">
                  <c:v>2024</c:v>
                </c:pt>
                <c:pt idx="2">
                  <c:v>2025</c:v>
                </c:pt>
              </c:numCache>
              <c:extLst/>
            </c:numRef>
          </c:cat>
          <c:val>
            <c:numRef>
              <c:f>'Ratios de liquidité'!$A$4:$C$4</c:f>
              <c:numCache>
                <c:formatCode>General</c:formatCode>
                <c:ptCount val="3"/>
                <c:pt idx="0">
                  <c:v>2025</c:v>
                </c:pt>
                <c:pt idx="1">
                  <c:v>2.2890559879999999</c:v>
                </c:pt>
                <c:pt idx="2">
                  <c:v>7.6994372000000005E-2</c:v>
                </c:pt>
              </c:numCache>
              <c:extLst/>
            </c:numRef>
          </c:val>
          <c:smooth val="0"/>
          <c:extLst>
            <c:ext xmlns:c16="http://schemas.microsoft.com/office/drawing/2014/chart" uri="{C3380CC4-5D6E-409C-BE32-E72D297353CC}">
              <c16:uniqueId val="{00000002-99D8-4D15-9F4D-EF15B670F8FE}"/>
            </c:ext>
          </c:extLst>
        </c:ser>
        <c:dLbls>
          <c:showLegendKey val="0"/>
          <c:showVal val="0"/>
          <c:showCatName val="0"/>
          <c:showSerName val="0"/>
          <c:showPercent val="0"/>
          <c:showBubbleSize val="0"/>
        </c:dLbls>
        <c:smooth val="0"/>
        <c:axId val="1296128015"/>
        <c:axId val="1296108815"/>
      </c:lineChart>
      <c:catAx>
        <c:axId val="12961280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296108815"/>
        <c:crosses val="autoZero"/>
        <c:auto val="1"/>
        <c:lblAlgn val="ctr"/>
        <c:lblOffset val="100"/>
        <c:noMultiLvlLbl val="0"/>
      </c:catAx>
      <c:valAx>
        <c:axId val="1296108815"/>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2961280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'Ratios de rentabilité'!$A$2</c:f>
              <c:strCache>
                <c:ptCount val="1"/>
                <c:pt idx="0">
                  <c:v>2023</c:v>
                </c:pt>
              </c:strCache>
            </c:strRef>
          </c:tx>
          <c:spPr>
            <a:solidFill>
              <a:schemeClr val="accent6"/>
            </a:solidFill>
            <a:ln>
              <a:noFill/>
            </a:ln>
            <a:effectLst/>
          </c:spPr>
          <c:invertIfNegative val="0"/>
          <c:cat>
            <c:strRef>
              <c:f>'Ratios de rentabilité'!$B$1:$E$1</c:f>
              <c:strCache>
                <c:ptCount val="4"/>
                <c:pt idx="0">
                  <c:v>Marge opérationnelle</c:v>
                </c:pt>
                <c:pt idx="1">
                  <c:v>Marge nette</c:v>
                </c:pt>
                <c:pt idx="2">
                  <c:v>ROA (Rentabilité économique)</c:v>
                </c:pt>
                <c:pt idx="3">
                  <c:v>ROE (Rentabilité financière)</c:v>
                </c:pt>
              </c:strCache>
            </c:strRef>
          </c:cat>
          <c:val>
            <c:numRef>
              <c:f>'Ratios de rentabilité'!$B$2:$E$2</c:f>
              <c:numCache>
                <c:formatCode>General</c:formatCode>
                <c:ptCount val="4"/>
                <c:pt idx="0">
                  <c:v>0.24788526699999999</c:v>
                </c:pt>
                <c:pt idx="1">
                  <c:v>0.22742873299999999</c:v>
                </c:pt>
                <c:pt idx="2">
                  <c:v>3.8296192999999999E-2</c:v>
                </c:pt>
                <c:pt idx="3">
                  <c:v>5.4511089999999998E-2</c:v>
                </c:pt>
              </c:numCache>
            </c:numRef>
          </c:val>
          <c:extLst>
            <c:ext xmlns:c16="http://schemas.microsoft.com/office/drawing/2014/chart" uri="{C3380CC4-5D6E-409C-BE32-E72D297353CC}">
              <c16:uniqueId val="{00000000-482D-4021-B526-9EB433776916}"/>
            </c:ext>
          </c:extLst>
        </c:ser>
        <c:ser>
          <c:idx val="1"/>
          <c:order val="1"/>
          <c:tx>
            <c:strRef>
              <c:f>'Ratios de rentabilité'!$A$3</c:f>
              <c:strCache>
                <c:ptCount val="1"/>
                <c:pt idx="0">
                  <c:v>2024</c:v>
                </c:pt>
              </c:strCache>
            </c:strRef>
          </c:tx>
          <c:spPr>
            <a:solidFill>
              <a:schemeClr val="accent5"/>
            </a:solidFill>
            <a:ln>
              <a:noFill/>
            </a:ln>
            <a:effectLst/>
          </c:spPr>
          <c:invertIfNegative val="0"/>
          <c:cat>
            <c:strRef>
              <c:f>'Ratios de rentabilité'!$B$1:$E$1</c:f>
              <c:strCache>
                <c:ptCount val="4"/>
                <c:pt idx="0">
                  <c:v>Marge opérationnelle</c:v>
                </c:pt>
                <c:pt idx="1">
                  <c:v>Marge nette</c:v>
                </c:pt>
                <c:pt idx="2">
                  <c:v>ROA (Rentabilité économique)</c:v>
                </c:pt>
                <c:pt idx="3">
                  <c:v>ROE (Rentabilité financière)</c:v>
                </c:pt>
              </c:strCache>
            </c:strRef>
          </c:cat>
          <c:val>
            <c:numRef>
              <c:f>'Ratios de rentabilité'!$B$3:$E$3</c:f>
              <c:numCache>
                <c:formatCode>General</c:formatCode>
                <c:ptCount val="4"/>
                <c:pt idx="0">
                  <c:v>0.306116049</c:v>
                </c:pt>
                <c:pt idx="1">
                  <c:v>0.29080496700000003</c:v>
                </c:pt>
                <c:pt idx="2">
                  <c:v>0.10217667900000001</c:v>
                </c:pt>
                <c:pt idx="3">
                  <c:v>0.12203990200000001</c:v>
                </c:pt>
              </c:numCache>
            </c:numRef>
          </c:val>
          <c:extLst>
            <c:ext xmlns:c16="http://schemas.microsoft.com/office/drawing/2014/chart" uri="{C3380CC4-5D6E-409C-BE32-E72D297353CC}">
              <c16:uniqueId val="{00000001-482D-4021-B526-9EB433776916}"/>
            </c:ext>
          </c:extLst>
        </c:ser>
        <c:ser>
          <c:idx val="2"/>
          <c:order val="2"/>
          <c:tx>
            <c:strRef>
              <c:f>'Ratios de rentabilité'!$A$4</c:f>
              <c:strCache>
                <c:ptCount val="1"/>
                <c:pt idx="0">
                  <c:v>2025</c:v>
                </c:pt>
              </c:strCache>
            </c:strRef>
          </c:tx>
          <c:spPr>
            <a:solidFill>
              <a:schemeClr val="accent4"/>
            </a:solidFill>
            <a:ln>
              <a:noFill/>
            </a:ln>
            <a:effectLst/>
          </c:spPr>
          <c:invertIfNegative val="0"/>
          <c:cat>
            <c:strRef>
              <c:f>'Ratios de rentabilité'!$B$1:$E$1</c:f>
              <c:strCache>
                <c:ptCount val="4"/>
                <c:pt idx="0">
                  <c:v>Marge opérationnelle</c:v>
                </c:pt>
                <c:pt idx="1">
                  <c:v>Marge nette</c:v>
                </c:pt>
                <c:pt idx="2">
                  <c:v>ROA (Rentabilité économique)</c:v>
                </c:pt>
                <c:pt idx="3">
                  <c:v>ROE (Rentabilité financière)</c:v>
                </c:pt>
              </c:strCache>
            </c:strRef>
          </c:cat>
          <c:val>
            <c:numRef>
              <c:f>'Ratios de rentabilité'!$B$4:$E$4</c:f>
              <c:numCache>
                <c:formatCode>General</c:formatCode>
                <c:ptCount val="4"/>
                <c:pt idx="0">
                  <c:v>0.32459636600000003</c:v>
                </c:pt>
                <c:pt idx="1">
                  <c:v>0.227945705</c:v>
                </c:pt>
                <c:pt idx="2">
                  <c:v>7.7289637999999994E-2</c:v>
                </c:pt>
                <c:pt idx="3">
                  <c:v>9.1070573000000002E-2</c:v>
                </c:pt>
              </c:numCache>
            </c:numRef>
          </c:val>
          <c:extLst>
            <c:ext xmlns:c16="http://schemas.microsoft.com/office/drawing/2014/chart" uri="{C3380CC4-5D6E-409C-BE32-E72D297353CC}">
              <c16:uniqueId val="{00000002-482D-4021-B526-9EB433776916}"/>
            </c:ext>
          </c:extLst>
        </c:ser>
        <c:dLbls>
          <c:showLegendKey val="0"/>
          <c:showVal val="0"/>
          <c:showCatName val="0"/>
          <c:showSerName val="0"/>
          <c:showPercent val="0"/>
          <c:showBubbleSize val="0"/>
        </c:dLbls>
        <c:gapWidth val="219"/>
        <c:overlap val="-27"/>
        <c:axId val="1319195759"/>
        <c:axId val="1319203439"/>
      </c:barChart>
      <c:catAx>
        <c:axId val="1319195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203439"/>
        <c:crosses val="autoZero"/>
        <c:auto val="1"/>
        <c:lblAlgn val="ctr"/>
        <c:lblOffset val="100"/>
        <c:noMultiLvlLbl val="0"/>
      </c:catAx>
      <c:valAx>
        <c:axId val="131920343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195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792896232156043"/>
          <c:y val="0.19891258384368621"/>
          <c:w val="0.69273575381284602"/>
          <c:h val="0.52778297765002569"/>
        </c:manualLayout>
      </c:layout>
      <c:barChart>
        <c:barDir val="col"/>
        <c:grouping val="clustered"/>
        <c:varyColors val="0"/>
        <c:ser>
          <c:idx val="2"/>
          <c:order val="2"/>
          <c:tx>
            <c:strRef>
              <c:f>'Ratios de structure financière'!$C$1</c:f>
              <c:strCache>
                <c:ptCount val="1"/>
                <c:pt idx="0">
                  <c:v>Autonomie financière</c:v>
                </c:pt>
              </c:strCache>
            </c:strRef>
          </c:tx>
          <c:spPr>
            <a:solidFill>
              <a:schemeClr val="accent3"/>
            </a:solidFill>
            <a:ln>
              <a:noFill/>
            </a:ln>
            <a:effectLst/>
          </c:spPr>
          <c:invertIfNegative val="0"/>
          <c:cat>
            <c:numRef>
              <c:f>'Ratios de structure financière'!$A$2:$A$4</c:f>
              <c:numCache>
                <c:formatCode>General</c:formatCode>
                <c:ptCount val="3"/>
                <c:pt idx="0">
                  <c:v>2023</c:v>
                </c:pt>
                <c:pt idx="1">
                  <c:v>2024</c:v>
                </c:pt>
                <c:pt idx="2">
                  <c:v>2025</c:v>
                </c:pt>
              </c:numCache>
            </c:numRef>
          </c:cat>
          <c:val>
            <c:numRef>
              <c:f>'Ratios de structure financière'!$C$2:$C$4</c:f>
              <c:numCache>
                <c:formatCode>0.00%</c:formatCode>
                <c:ptCount val="3"/>
                <c:pt idx="0">
                  <c:v>0.7025394881</c:v>
                </c:pt>
                <c:pt idx="1">
                  <c:v>0.83723993429999999</c:v>
                </c:pt>
                <c:pt idx="2">
                  <c:v>0.84867850359999997</c:v>
                </c:pt>
              </c:numCache>
            </c:numRef>
          </c:val>
          <c:extLst>
            <c:ext xmlns:c16="http://schemas.microsoft.com/office/drawing/2014/chart" uri="{C3380CC4-5D6E-409C-BE32-E72D297353CC}">
              <c16:uniqueId val="{00000000-BA01-4FF1-8231-2A63A12A3023}"/>
            </c:ext>
          </c:extLst>
        </c:ser>
        <c:dLbls>
          <c:showLegendKey val="0"/>
          <c:showVal val="0"/>
          <c:showCatName val="0"/>
          <c:showSerName val="0"/>
          <c:showPercent val="0"/>
          <c:showBubbleSize val="0"/>
        </c:dLbls>
        <c:gapWidth val="219"/>
        <c:axId val="1319159279"/>
        <c:axId val="1319161679"/>
        <c:extLst>
          <c:ext xmlns:c15="http://schemas.microsoft.com/office/drawing/2012/chart" uri="{02D57815-91ED-43cb-92C2-25804820EDAC}">
            <c15:filteredBarSeries>
              <c15:ser>
                <c:idx val="0"/>
                <c:order val="0"/>
                <c:tx>
                  <c:strRef>
                    <c:extLst>
                      <c:ext uri="{02D57815-91ED-43cb-92C2-25804820EDAC}">
                        <c15:formulaRef>
                          <c15:sqref>'Ratios de structure financière'!$A$1</c15:sqref>
                        </c15:formulaRef>
                      </c:ext>
                    </c:extLst>
                    <c:strCache>
                      <c:ptCount val="1"/>
                      <c:pt idx="0">
                        <c:v>Années </c:v>
                      </c:pt>
                    </c:strCache>
                  </c:strRef>
                </c:tx>
                <c:spPr>
                  <a:solidFill>
                    <a:schemeClr val="accent1"/>
                  </a:solidFill>
                  <a:ln>
                    <a:noFill/>
                  </a:ln>
                  <a:effectLst/>
                </c:spPr>
                <c:invertIfNegative val="0"/>
                <c:cat>
                  <c:numRef>
                    <c:extLst>
                      <c:ext uri="{02D57815-91ED-43cb-92C2-25804820EDAC}">
                        <c15:formulaRef>
                          <c15:sqref>'Ratios de structure financière'!$A$2:$A$4</c15:sqref>
                        </c15:formulaRef>
                      </c:ext>
                    </c:extLst>
                    <c:numCache>
                      <c:formatCode>General</c:formatCode>
                      <c:ptCount val="3"/>
                      <c:pt idx="0">
                        <c:v>2023</c:v>
                      </c:pt>
                      <c:pt idx="1">
                        <c:v>2024</c:v>
                      </c:pt>
                      <c:pt idx="2">
                        <c:v>2025</c:v>
                      </c:pt>
                    </c:numCache>
                  </c:numRef>
                </c:cat>
                <c:val>
                  <c:numRef>
                    <c:extLst>
                      <c:ext uri="{02D57815-91ED-43cb-92C2-25804820EDAC}">
                        <c15:formulaRef>
                          <c15:sqref>'Ratios de structure financière'!$A$2:$A$4</c15:sqref>
                        </c15:formulaRef>
                      </c:ext>
                    </c:extLst>
                    <c:numCache>
                      <c:formatCode>General</c:formatCode>
                      <c:ptCount val="3"/>
                      <c:pt idx="0">
                        <c:v>2023</c:v>
                      </c:pt>
                      <c:pt idx="1">
                        <c:v>2024</c:v>
                      </c:pt>
                      <c:pt idx="2">
                        <c:v>2025</c:v>
                      </c:pt>
                    </c:numCache>
                  </c:numRef>
                </c:val>
                <c:extLst>
                  <c:ext xmlns:c16="http://schemas.microsoft.com/office/drawing/2014/chart" uri="{C3380CC4-5D6E-409C-BE32-E72D297353CC}">
                    <c16:uniqueId val="{00000003-BA01-4FF1-8231-2A63A12A3023}"/>
                  </c:ext>
                </c:extLst>
              </c15:ser>
            </c15:filteredBarSeries>
          </c:ext>
        </c:extLst>
      </c:barChart>
      <c:lineChart>
        <c:grouping val="standard"/>
        <c:varyColors val="0"/>
        <c:ser>
          <c:idx val="1"/>
          <c:order val="1"/>
          <c:tx>
            <c:strRef>
              <c:f>'Ratios de structure financière'!$B$1</c:f>
              <c:strCache>
                <c:ptCount val="1"/>
                <c:pt idx="0">
                  <c:v>Taux d’endettement</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'Ratios de structure financière'!$A$2:$A$4</c:f>
              <c:numCache>
                <c:formatCode>General</c:formatCode>
                <c:ptCount val="3"/>
                <c:pt idx="0">
                  <c:v>2023</c:v>
                </c:pt>
                <c:pt idx="1">
                  <c:v>2024</c:v>
                </c:pt>
                <c:pt idx="2">
                  <c:v>2025</c:v>
                </c:pt>
              </c:numCache>
            </c:numRef>
          </c:cat>
          <c:val>
            <c:numRef>
              <c:f>'Ratios de structure financière'!$B$2:$B$4</c:f>
              <c:numCache>
                <c:formatCode>General</c:formatCode>
                <c:ptCount val="3"/>
                <c:pt idx="0">
                  <c:v>1.7284552000000002E-2</c:v>
                </c:pt>
                <c:pt idx="1">
                  <c:v>9.5606560000000007E-3</c:v>
                </c:pt>
                <c:pt idx="2">
                  <c:v>6.1953620000000003E-3</c:v>
                </c:pt>
              </c:numCache>
            </c:numRef>
          </c:val>
          <c:smooth val="0"/>
          <c:extLst>
            <c:ext xmlns:c16="http://schemas.microsoft.com/office/drawing/2014/chart" uri="{C3380CC4-5D6E-409C-BE32-E72D297353CC}">
              <c16:uniqueId val="{00000001-BA01-4FF1-8231-2A63A12A3023}"/>
            </c:ext>
          </c:extLst>
        </c:ser>
        <c:ser>
          <c:idx val="3"/>
          <c:order val="3"/>
          <c:tx>
            <c:strRef>
              <c:f>'Ratios de structure financière'!$D$1</c:f>
              <c:strCache>
                <c:ptCount val="1"/>
                <c:pt idx="0">
                  <c:v>Poids des dettes financières</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'Ratios de structure financière'!$A$2:$A$4</c:f>
              <c:numCache>
                <c:formatCode>General</c:formatCode>
                <c:ptCount val="3"/>
                <c:pt idx="0">
                  <c:v>2023</c:v>
                </c:pt>
                <c:pt idx="1">
                  <c:v>2024</c:v>
                </c:pt>
                <c:pt idx="2">
                  <c:v>2025</c:v>
                </c:pt>
              </c:numCache>
            </c:numRef>
          </c:cat>
          <c:val>
            <c:numRef>
              <c:f>'Ratios de structure financière'!$D$2:$D$4</c:f>
              <c:numCache>
                <c:formatCode>General</c:formatCode>
                <c:ptCount val="3"/>
                <c:pt idx="0">
                  <c:v>1.2143080000000001E-2</c:v>
                </c:pt>
                <c:pt idx="1">
                  <c:v>7.5820920000000003E-3</c:v>
                </c:pt>
                <c:pt idx="2">
                  <c:v>5.2578709999999999E-3</c:v>
                </c:pt>
              </c:numCache>
            </c:numRef>
          </c:val>
          <c:smooth val="0"/>
          <c:extLst>
            <c:ext xmlns:c16="http://schemas.microsoft.com/office/drawing/2014/chart" uri="{C3380CC4-5D6E-409C-BE32-E72D297353CC}">
              <c16:uniqueId val="{00000002-BA01-4FF1-8231-2A63A12A3023}"/>
            </c:ext>
          </c:extLst>
        </c:ser>
        <c:dLbls>
          <c:showLegendKey val="0"/>
          <c:showVal val="0"/>
          <c:showCatName val="0"/>
          <c:showSerName val="0"/>
          <c:showPercent val="0"/>
          <c:showBubbleSize val="0"/>
        </c:dLbls>
        <c:marker val="1"/>
        <c:smooth val="0"/>
        <c:axId val="1319167439"/>
        <c:axId val="1319177039"/>
      </c:lineChart>
      <c:catAx>
        <c:axId val="1319159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161679"/>
        <c:crosses val="autoZero"/>
        <c:auto val="1"/>
        <c:lblAlgn val="ctr"/>
        <c:lblOffset val="100"/>
        <c:noMultiLvlLbl val="0"/>
      </c:catAx>
      <c:valAx>
        <c:axId val="13191616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0" i="0" u="none" strike="noStrike" baseline="0"/>
                  <a:t>Pourcentage (%)</a:t>
                </a:r>
                <a:endParaRPr lang="fr-F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159279"/>
        <c:crosses val="autoZero"/>
        <c:crossBetween val="between"/>
      </c:valAx>
      <c:valAx>
        <c:axId val="1319177039"/>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0" i="0" u="none" strike="noStrike" baseline="0"/>
                  <a:t>Taux (décimal) </a:t>
                </a:r>
                <a:endParaRPr lang="fr-FR" b="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167439"/>
        <c:crosses val="max"/>
        <c:crossBetween val="between"/>
      </c:valAx>
      <c:catAx>
        <c:axId val="1319167439"/>
        <c:scaling>
          <c:orientation val="minMax"/>
        </c:scaling>
        <c:delete val="1"/>
        <c:axPos val="b"/>
        <c:numFmt formatCode="General" sourceLinked="1"/>
        <c:majorTickMark val="out"/>
        <c:minorTickMark val="none"/>
        <c:tickLblPos val="nextTo"/>
        <c:crossAx val="131917703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Évolution des ratios de liquidité (2023 – 2025)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lineChart>
        <c:grouping val="percentStacked"/>
        <c:varyColors val="0"/>
        <c:ser>
          <c:idx val="0"/>
          <c:order val="0"/>
          <c:tx>
            <c:strRef>
              <c:f>'Ratios de liquidité'!$B$1</c:f>
              <c:strCache>
                <c:ptCount val="1"/>
                <c:pt idx="0">
                  <c:v>Ratio de liquidité générale </c:v>
                </c:pt>
              </c:strCache>
            </c:strRef>
          </c:tx>
          <c:spPr>
            <a:ln w="28575" cap="rnd">
              <a:solidFill>
                <a:schemeClr val="accent6"/>
              </a:solidFill>
              <a:round/>
            </a:ln>
            <a:effectLst/>
          </c:spPr>
          <c:marker>
            <c:symbol val="none"/>
          </c:marker>
          <c:cat>
            <c:numRef>
              <c:f>'Ratios de liquidité'!$A$2:$A$4</c:f>
              <c:numCache>
                <c:formatCode>General</c:formatCode>
                <c:ptCount val="3"/>
                <c:pt idx="0">
                  <c:v>2023</c:v>
                </c:pt>
                <c:pt idx="1">
                  <c:v>2024</c:v>
                </c:pt>
                <c:pt idx="2">
                  <c:v>2025</c:v>
                </c:pt>
              </c:numCache>
              <c:extLst/>
            </c:numRef>
          </c:cat>
          <c:val>
            <c:numRef>
              <c:f>'Ratios de liquidité'!$A$2:$C$2</c:f>
              <c:numCache>
                <c:formatCode>General</c:formatCode>
                <c:ptCount val="3"/>
                <c:pt idx="0">
                  <c:v>2023</c:v>
                </c:pt>
                <c:pt idx="1">
                  <c:v>0.90960044299999998</c:v>
                </c:pt>
                <c:pt idx="2">
                  <c:v>2.7716432999999999E-2</c:v>
                </c:pt>
              </c:numCache>
              <c:extLst/>
            </c:numRef>
          </c:val>
          <c:smooth val="0"/>
          <c:extLst>
            <c:ext xmlns:c16="http://schemas.microsoft.com/office/drawing/2014/chart" uri="{C3380CC4-5D6E-409C-BE32-E72D297353CC}">
              <c16:uniqueId val="{00000000-CA7F-4C42-B090-0938DCE49784}"/>
            </c:ext>
          </c:extLst>
        </c:ser>
        <c:ser>
          <c:idx val="1"/>
          <c:order val="1"/>
          <c:tx>
            <c:strRef>
              <c:f>'Ratios de liquidité'!$C$1</c:f>
              <c:strCache>
                <c:ptCount val="1"/>
                <c:pt idx="0">
                  <c:v>Ratio de liquidité immédiate</c:v>
                </c:pt>
              </c:strCache>
            </c:strRef>
          </c:tx>
          <c:spPr>
            <a:ln w="28575" cap="rnd">
              <a:solidFill>
                <a:schemeClr val="accent5"/>
              </a:solidFill>
              <a:round/>
            </a:ln>
            <a:effectLst/>
          </c:spPr>
          <c:marker>
            <c:symbol val="none"/>
          </c:marker>
          <c:cat>
            <c:numRef>
              <c:f>'Ratios de liquidité'!$A$2:$A$4</c:f>
              <c:numCache>
                <c:formatCode>General</c:formatCode>
                <c:ptCount val="3"/>
                <c:pt idx="0">
                  <c:v>2023</c:v>
                </c:pt>
                <c:pt idx="1">
                  <c:v>2024</c:v>
                </c:pt>
                <c:pt idx="2">
                  <c:v>2025</c:v>
                </c:pt>
              </c:numCache>
              <c:extLst/>
            </c:numRef>
          </c:cat>
          <c:val>
            <c:numRef>
              <c:f>'Ratios de liquidité'!$A$3:$C$3</c:f>
              <c:numCache>
                <c:formatCode>General</c:formatCode>
                <c:ptCount val="3"/>
                <c:pt idx="0">
                  <c:v>2024</c:v>
                </c:pt>
                <c:pt idx="1">
                  <c:v>1.6508953159999999</c:v>
                </c:pt>
                <c:pt idx="2">
                  <c:v>0.13035115799999999</c:v>
                </c:pt>
              </c:numCache>
              <c:extLst/>
            </c:numRef>
          </c:val>
          <c:smooth val="0"/>
          <c:extLst>
            <c:ext xmlns:c16="http://schemas.microsoft.com/office/drawing/2014/chart" uri="{C3380CC4-5D6E-409C-BE32-E72D297353CC}">
              <c16:uniqueId val="{00000001-CA7F-4C42-B090-0938DCE49784}"/>
            </c:ext>
          </c:extLst>
        </c:ser>
        <c:ser>
          <c:idx val="2"/>
          <c:order val="2"/>
          <c:tx>
            <c:strRef>
              <c:f>'Ratios de liquidité'!$D$1</c:f>
              <c:strCache>
                <c:ptCount val="1"/>
                <c:pt idx="0">
                  <c:v>Ratios de liquidité réduite</c:v>
                </c:pt>
              </c:strCache>
            </c:strRef>
          </c:tx>
          <c:spPr>
            <a:ln w="28575" cap="rnd">
              <a:solidFill>
                <a:schemeClr val="accent4"/>
              </a:solidFill>
              <a:round/>
            </a:ln>
            <a:effectLst/>
          </c:spPr>
          <c:marker>
            <c:symbol val="none"/>
          </c:marker>
          <c:cat>
            <c:numRef>
              <c:f>'Ratios de liquidité'!$A$2:$A$4</c:f>
              <c:numCache>
                <c:formatCode>General</c:formatCode>
                <c:ptCount val="3"/>
                <c:pt idx="0">
                  <c:v>2023</c:v>
                </c:pt>
                <c:pt idx="1">
                  <c:v>2024</c:v>
                </c:pt>
                <c:pt idx="2">
                  <c:v>2025</c:v>
                </c:pt>
              </c:numCache>
              <c:extLst/>
            </c:numRef>
          </c:cat>
          <c:val>
            <c:numRef>
              <c:f>'Ratios de liquidité'!$A$4:$C$4</c:f>
              <c:numCache>
                <c:formatCode>General</c:formatCode>
                <c:ptCount val="3"/>
                <c:pt idx="0">
                  <c:v>2025</c:v>
                </c:pt>
                <c:pt idx="1">
                  <c:v>2.2890559879999999</c:v>
                </c:pt>
                <c:pt idx="2">
                  <c:v>7.6994372000000005E-2</c:v>
                </c:pt>
              </c:numCache>
              <c:extLst/>
            </c:numRef>
          </c:val>
          <c:smooth val="0"/>
          <c:extLst>
            <c:ext xmlns:c16="http://schemas.microsoft.com/office/drawing/2014/chart" uri="{C3380CC4-5D6E-409C-BE32-E72D297353CC}">
              <c16:uniqueId val="{00000002-CA7F-4C42-B090-0938DCE49784}"/>
            </c:ext>
          </c:extLst>
        </c:ser>
        <c:dLbls>
          <c:showLegendKey val="0"/>
          <c:showVal val="0"/>
          <c:showCatName val="0"/>
          <c:showSerName val="0"/>
          <c:showPercent val="0"/>
          <c:showBubbleSize val="0"/>
        </c:dLbls>
        <c:smooth val="0"/>
        <c:axId val="1296128015"/>
        <c:axId val="1296108815"/>
      </c:lineChart>
      <c:catAx>
        <c:axId val="12961280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296108815"/>
        <c:crosses val="autoZero"/>
        <c:auto val="1"/>
        <c:lblAlgn val="ctr"/>
        <c:lblOffset val="100"/>
        <c:noMultiLvlLbl val="0"/>
      </c:catAx>
      <c:valAx>
        <c:axId val="1296108815"/>
        <c:scaling>
          <c:orientation val="minMax"/>
          <c:max val="2.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2961280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0" i="0" u="none" strike="noStrike" baseline="0"/>
              <a:t>Évolution des ratios de rentabilité (%) 2023-2025</a:t>
            </a:r>
            <a:endParaRPr lang="fr-F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barChart>
        <c:barDir val="col"/>
        <c:grouping val="clustered"/>
        <c:varyColors val="0"/>
        <c:ser>
          <c:idx val="0"/>
          <c:order val="0"/>
          <c:tx>
            <c:strRef>
              <c:f>'Ratios de rentabilité'!$A$2</c:f>
              <c:strCache>
                <c:ptCount val="1"/>
                <c:pt idx="0">
                  <c:v>2023</c:v>
                </c:pt>
              </c:strCache>
            </c:strRef>
          </c:tx>
          <c:spPr>
            <a:solidFill>
              <a:schemeClr val="accent2"/>
            </a:solidFill>
            <a:ln>
              <a:noFill/>
            </a:ln>
            <a:effectLst/>
          </c:spPr>
          <c:invertIfNegative val="0"/>
          <c:cat>
            <c:strRef>
              <c:f>'Ratios de rentabilité'!$B$1:$E$1</c:f>
              <c:strCache>
                <c:ptCount val="4"/>
                <c:pt idx="0">
                  <c:v>Marge opérationnelle</c:v>
                </c:pt>
                <c:pt idx="1">
                  <c:v>Marge nette</c:v>
                </c:pt>
                <c:pt idx="2">
                  <c:v>ROA (Rentabilité économique)</c:v>
                </c:pt>
                <c:pt idx="3">
                  <c:v>ROE (Rentabilité financière)</c:v>
                </c:pt>
              </c:strCache>
            </c:strRef>
          </c:cat>
          <c:val>
            <c:numRef>
              <c:f>'Ratios de rentabilité'!$B$2:$E$2</c:f>
              <c:numCache>
                <c:formatCode>General</c:formatCode>
                <c:ptCount val="4"/>
                <c:pt idx="0">
                  <c:v>0.24788526699999999</c:v>
                </c:pt>
                <c:pt idx="1">
                  <c:v>0.22742873299999999</c:v>
                </c:pt>
                <c:pt idx="2">
                  <c:v>3.8296192999999999E-2</c:v>
                </c:pt>
                <c:pt idx="3">
                  <c:v>5.4511089999999998E-2</c:v>
                </c:pt>
              </c:numCache>
            </c:numRef>
          </c:val>
          <c:extLst>
            <c:ext xmlns:c16="http://schemas.microsoft.com/office/drawing/2014/chart" uri="{C3380CC4-5D6E-409C-BE32-E72D297353CC}">
              <c16:uniqueId val="{00000000-4C5E-401E-870A-9FC848C9F3FE}"/>
            </c:ext>
          </c:extLst>
        </c:ser>
        <c:ser>
          <c:idx val="1"/>
          <c:order val="1"/>
          <c:tx>
            <c:strRef>
              <c:f>'Ratios de rentabilité'!$A$3</c:f>
              <c:strCache>
                <c:ptCount val="1"/>
                <c:pt idx="0">
                  <c:v>2024</c:v>
                </c:pt>
              </c:strCache>
            </c:strRef>
          </c:tx>
          <c:spPr>
            <a:solidFill>
              <a:schemeClr val="accent4"/>
            </a:solidFill>
            <a:ln>
              <a:noFill/>
            </a:ln>
            <a:effectLst/>
          </c:spPr>
          <c:invertIfNegative val="0"/>
          <c:cat>
            <c:strRef>
              <c:f>'Ratios de rentabilité'!$B$1:$E$1</c:f>
              <c:strCache>
                <c:ptCount val="4"/>
                <c:pt idx="0">
                  <c:v>Marge opérationnelle</c:v>
                </c:pt>
                <c:pt idx="1">
                  <c:v>Marge nette</c:v>
                </c:pt>
                <c:pt idx="2">
                  <c:v>ROA (Rentabilité économique)</c:v>
                </c:pt>
                <c:pt idx="3">
                  <c:v>ROE (Rentabilité financière)</c:v>
                </c:pt>
              </c:strCache>
            </c:strRef>
          </c:cat>
          <c:val>
            <c:numRef>
              <c:f>'Ratios de rentabilité'!$B$3:$E$3</c:f>
              <c:numCache>
                <c:formatCode>General</c:formatCode>
                <c:ptCount val="4"/>
                <c:pt idx="0">
                  <c:v>0.306116049</c:v>
                </c:pt>
                <c:pt idx="1">
                  <c:v>0.29080496700000003</c:v>
                </c:pt>
                <c:pt idx="2">
                  <c:v>0.10217667900000001</c:v>
                </c:pt>
                <c:pt idx="3">
                  <c:v>0.12203990200000001</c:v>
                </c:pt>
              </c:numCache>
            </c:numRef>
          </c:val>
          <c:extLst>
            <c:ext xmlns:c16="http://schemas.microsoft.com/office/drawing/2014/chart" uri="{C3380CC4-5D6E-409C-BE32-E72D297353CC}">
              <c16:uniqueId val="{00000001-4C5E-401E-870A-9FC848C9F3FE}"/>
            </c:ext>
          </c:extLst>
        </c:ser>
        <c:ser>
          <c:idx val="2"/>
          <c:order val="2"/>
          <c:tx>
            <c:strRef>
              <c:f>'Ratios de rentabilité'!$A$4</c:f>
              <c:strCache>
                <c:ptCount val="1"/>
                <c:pt idx="0">
                  <c:v>2025</c:v>
                </c:pt>
              </c:strCache>
            </c:strRef>
          </c:tx>
          <c:spPr>
            <a:solidFill>
              <a:schemeClr val="accent6"/>
            </a:solidFill>
            <a:ln>
              <a:noFill/>
            </a:ln>
            <a:effectLst/>
          </c:spPr>
          <c:invertIfNegative val="0"/>
          <c:cat>
            <c:strRef>
              <c:f>'Ratios de rentabilité'!$B$1:$E$1</c:f>
              <c:strCache>
                <c:ptCount val="4"/>
                <c:pt idx="0">
                  <c:v>Marge opérationnelle</c:v>
                </c:pt>
                <c:pt idx="1">
                  <c:v>Marge nette</c:v>
                </c:pt>
                <c:pt idx="2">
                  <c:v>ROA (Rentabilité économique)</c:v>
                </c:pt>
                <c:pt idx="3">
                  <c:v>ROE (Rentabilité financière)</c:v>
                </c:pt>
              </c:strCache>
            </c:strRef>
          </c:cat>
          <c:val>
            <c:numRef>
              <c:f>'Ratios de rentabilité'!$B$4:$E$4</c:f>
              <c:numCache>
                <c:formatCode>General</c:formatCode>
                <c:ptCount val="4"/>
                <c:pt idx="0">
                  <c:v>0.32459636600000003</c:v>
                </c:pt>
                <c:pt idx="1">
                  <c:v>0.227945705</c:v>
                </c:pt>
                <c:pt idx="2">
                  <c:v>7.7289637999999994E-2</c:v>
                </c:pt>
                <c:pt idx="3">
                  <c:v>9.1070573000000002E-2</c:v>
                </c:pt>
              </c:numCache>
            </c:numRef>
          </c:val>
          <c:extLst>
            <c:ext xmlns:c16="http://schemas.microsoft.com/office/drawing/2014/chart" uri="{C3380CC4-5D6E-409C-BE32-E72D297353CC}">
              <c16:uniqueId val="{00000002-4C5E-401E-870A-9FC848C9F3FE}"/>
            </c:ext>
          </c:extLst>
        </c:ser>
        <c:dLbls>
          <c:showLegendKey val="0"/>
          <c:showVal val="0"/>
          <c:showCatName val="0"/>
          <c:showSerName val="0"/>
          <c:showPercent val="0"/>
          <c:showBubbleSize val="0"/>
        </c:dLbls>
        <c:gapWidth val="219"/>
        <c:overlap val="-27"/>
        <c:axId val="1319195759"/>
        <c:axId val="1319203439"/>
      </c:barChart>
      <c:catAx>
        <c:axId val="1319195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203439"/>
        <c:crosses val="autoZero"/>
        <c:auto val="1"/>
        <c:lblAlgn val="ctr"/>
        <c:lblOffset val="100"/>
        <c:noMultiLvlLbl val="0"/>
      </c:catAx>
      <c:valAx>
        <c:axId val="131920343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19575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sz="1400" b="0" i="0" u="none" strike="noStrike" baseline="0"/>
              <a:t>Évolution des ratios financiers (2023-2025)</a:t>
            </a:r>
            <a:endParaRPr lang="fr-F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0.16792896232156043"/>
          <c:y val="0.19891258384368621"/>
          <c:w val="0.66263669649007861"/>
          <c:h val="0.48347266028414326"/>
        </c:manualLayout>
      </c:layout>
      <c:barChart>
        <c:barDir val="col"/>
        <c:grouping val="clustered"/>
        <c:varyColors val="0"/>
        <c:ser>
          <c:idx val="2"/>
          <c:order val="2"/>
          <c:tx>
            <c:strRef>
              <c:f>'Ratios de structure financière'!$C$1</c:f>
              <c:strCache>
                <c:ptCount val="1"/>
                <c:pt idx="0">
                  <c:v>Autonomie financière</c:v>
                </c:pt>
              </c:strCache>
            </c:strRef>
          </c:tx>
          <c:spPr>
            <a:solidFill>
              <a:schemeClr val="accent3"/>
            </a:solidFill>
            <a:ln>
              <a:noFill/>
            </a:ln>
            <a:effectLst/>
          </c:spPr>
          <c:invertIfNegative val="0"/>
          <c:cat>
            <c:numRef>
              <c:f>'Ratios de structure financière'!$A$2:$A$4</c:f>
              <c:numCache>
                <c:formatCode>General</c:formatCode>
                <c:ptCount val="3"/>
                <c:pt idx="0">
                  <c:v>2023</c:v>
                </c:pt>
                <c:pt idx="1">
                  <c:v>2024</c:v>
                </c:pt>
                <c:pt idx="2">
                  <c:v>2025</c:v>
                </c:pt>
              </c:numCache>
            </c:numRef>
          </c:cat>
          <c:val>
            <c:numRef>
              <c:f>'Ratios de structure financière'!$C$2:$C$4</c:f>
              <c:numCache>
                <c:formatCode>0.00%</c:formatCode>
                <c:ptCount val="3"/>
                <c:pt idx="0">
                  <c:v>0.7025394881</c:v>
                </c:pt>
                <c:pt idx="1">
                  <c:v>0.83723993429999999</c:v>
                </c:pt>
                <c:pt idx="2">
                  <c:v>0.84867850359999997</c:v>
                </c:pt>
              </c:numCache>
            </c:numRef>
          </c:val>
          <c:extLst>
            <c:ext xmlns:c16="http://schemas.microsoft.com/office/drawing/2014/chart" uri="{C3380CC4-5D6E-409C-BE32-E72D297353CC}">
              <c16:uniqueId val="{00000000-95A2-4F20-8172-8BC28B0C4028}"/>
            </c:ext>
          </c:extLst>
        </c:ser>
        <c:dLbls>
          <c:showLegendKey val="0"/>
          <c:showVal val="0"/>
          <c:showCatName val="0"/>
          <c:showSerName val="0"/>
          <c:showPercent val="0"/>
          <c:showBubbleSize val="0"/>
        </c:dLbls>
        <c:gapWidth val="219"/>
        <c:axId val="1319159279"/>
        <c:axId val="1319161679"/>
        <c:extLst>
          <c:ext xmlns:c15="http://schemas.microsoft.com/office/drawing/2012/chart" uri="{02D57815-91ED-43cb-92C2-25804820EDAC}">
            <c15:filteredBarSeries>
              <c15:ser>
                <c:idx val="0"/>
                <c:order val="0"/>
                <c:tx>
                  <c:strRef>
                    <c:extLst>
                      <c:ext uri="{02D57815-91ED-43cb-92C2-25804820EDAC}">
                        <c15:formulaRef>
                          <c15:sqref>'Ratios de structure financière'!$A$1</c15:sqref>
                        </c15:formulaRef>
                      </c:ext>
                    </c:extLst>
                    <c:strCache>
                      <c:ptCount val="1"/>
                      <c:pt idx="0">
                        <c:v>Années </c:v>
                      </c:pt>
                    </c:strCache>
                  </c:strRef>
                </c:tx>
                <c:spPr>
                  <a:solidFill>
                    <a:schemeClr val="accent1"/>
                  </a:solidFill>
                  <a:ln>
                    <a:noFill/>
                  </a:ln>
                  <a:effectLst/>
                </c:spPr>
                <c:invertIfNegative val="0"/>
                <c:cat>
                  <c:numRef>
                    <c:extLst>
                      <c:ext uri="{02D57815-91ED-43cb-92C2-25804820EDAC}">
                        <c15:formulaRef>
                          <c15:sqref>'Ratios de structure financière'!$A$2:$A$4</c15:sqref>
                        </c15:formulaRef>
                      </c:ext>
                    </c:extLst>
                    <c:numCache>
                      <c:formatCode>General</c:formatCode>
                      <c:ptCount val="3"/>
                      <c:pt idx="0">
                        <c:v>2023</c:v>
                      </c:pt>
                      <c:pt idx="1">
                        <c:v>2024</c:v>
                      </c:pt>
                      <c:pt idx="2">
                        <c:v>2025</c:v>
                      </c:pt>
                    </c:numCache>
                  </c:numRef>
                </c:cat>
                <c:val>
                  <c:numRef>
                    <c:extLst>
                      <c:ext uri="{02D57815-91ED-43cb-92C2-25804820EDAC}">
                        <c15:formulaRef>
                          <c15:sqref>'Ratios de structure financière'!$A$2:$A$4</c15:sqref>
                        </c15:formulaRef>
                      </c:ext>
                    </c:extLst>
                    <c:numCache>
                      <c:formatCode>General</c:formatCode>
                      <c:ptCount val="3"/>
                      <c:pt idx="0">
                        <c:v>2023</c:v>
                      </c:pt>
                      <c:pt idx="1">
                        <c:v>2024</c:v>
                      </c:pt>
                      <c:pt idx="2">
                        <c:v>2025</c:v>
                      </c:pt>
                    </c:numCache>
                  </c:numRef>
                </c:val>
                <c:extLst>
                  <c:ext xmlns:c16="http://schemas.microsoft.com/office/drawing/2014/chart" uri="{C3380CC4-5D6E-409C-BE32-E72D297353CC}">
                    <c16:uniqueId val="{00000003-95A2-4F20-8172-8BC28B0C4028}"/>
                  </c:ext>
                </c:extLst>
              </c15:ser>
            </c15:filteredBarSeries>
          </c:ext>
        </c:extLst>
      </c:barChart>
      <c:lineChart>
        <c:grouping val="standard"/>
        <c:varyColors val="0"/>
        <c:ser>
          <c:idx val="1"/>
          <c:order val="1"/>
          <c:tx>
            <c:strRef>
              <c:f>'Ratios de structure financière'!$B$1</c:f>
              <c:strCache>
                <c:ptCount val="1"/>
                <c:pt idx="0">
                  <c:v>Taux d’endettement</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numRef>
              <c:f>'Ratios de structure financière'!$A$2:$A$4</c:f>
              <c:numCache>
                <c:formatCode>General</c:formatCode>
                <c:ptCount val="3"/>
                <c:pt idx="0">
                  <c:v>2023</c:v>
                </c:pt>
                <c:pt idx="1">
                  <c:v>2024</c:v>
                </c:pt>
                <c:pt idx="2">
                  <c:v>2025</c:v>
                </c:pt>
              </c:numCache>
            </c:numRef>
          </c:cat>
          <c:val>
            <c:numRef>
              <c:f>'Ratios de structure financière'!$B$2:$B$4</c:f>
              <c:numCache>
                <c:formatCode>General</c:formatCode>
                <c:ptCount val="3"/>
                <c:pt idx="0">
                  <c:v>1.7284552000000002E-2</c:v>
                </c:pt>
                <c:pt idx="1">
                  <c:v>9.5606560000000007E-3</c:v>
                </c:pt>
                <c:pt idx="2">
                  <c:v>6.1953620000000003E-3</c:v>
                </c:pt>
              </c:numCache>
            </c:numRef>
          </c:val>
          <c:smooth val="0"/>
          <c:extLst>
            <c:ext xmlns:c16="http://schemas.microsoft.com/office/drawing/2014/chart" uri="{C3380CC4-5D6E-409C-BE32-E72D297353CC}">
              <c16:uniqueId val="{00000001-95A2-4F20-8172-8BC28B0C4028}"/>
            </c:ext>
          </c:extLst>
        </c:ser>
        <c:ser>
          <c:idx val="3"/>
          <c:order val="3"/>
          <c:tx>
            <c:strRef>
              <c:f>'Ratios de structure financière'!$D$1</c:f>
              <c:strCache>
                <c:ptCount val="1"/>
                <c:pt idx="0">
                  <c:v>Poids des dettes financières</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numRef>
              <c:f>'Ratios de structure financière'!$A$2:$A$4</c:f>
              <c:numCache>
                <c:formatCode>General</c:formatCode>
                <c:ptCount val="3"/>
                <c:pt idx="0">
                  <c:v>2023</c:v>
                </c:pt>
                <c:pt idx="1">
                  <c:v>2024</c:v>
                </c:pt>
                <c:pt idx="2">
                  <c:v>2025</c:v>
                </c:pt>
              </c:numCache>
            </c:numRef>
          </c:cat>
          <c:val>
            <c:numRef>
              <c:f>'Ratios de structure financière'!$D$2:$D$4</c:f>
              <c:numCache>
                <c:formatCode>General</c:formatCode>
                <c:ptCount val="3"/>
                <c:pt idx="0">
                  <c:v>1.2143080000000001E-2</c:v>
                </c:pt>
                <c:pt idx="1">
                  <c:v>7.5820920000000003E-3</c:v>
                </c:pt>
                <c:pt idx="2">
                  <c:v>5.2578709999999999E-3</c:v>
                </c:pt>
              </c:numCache>
            </c:numRef>
          </c:val>
          <c:smooth val="0"/>
          <c:extLst>
            <c:ext xmlns:c16="http://schemas.microsoft.com/office/drawing/2014/chart" uri="{C3380CC4-5D6E-409C-BE32-E72D297353CC}">
              <c16:uniqueId val="{00000002-95A2-4F20-8172-8BC28B0C4028}"/>
            </c:ext>
          </c:extLst>
        </c:ser>
        <c:dLbls>
          <c:showLegendKey val="0"/>
          <c:showVal val="0"/>
          <c:showCatName val="0"/>
          <c:showSerName val="0"/>
          <c:showPercent val="0"/>
          <c:showBubbleSize val="0"/>
        </c:dLbls>
        <c:marker val="1"/>
        <c:smooth val="0"/>
        <c:axId val="1319167439"/>
        <c:axId val="1319177039"/>
      </c:lineChart>
      <c:catAx>
        <c:axId val="1319159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161679"/>
        <c:crosses val="autoZero"/>
        <c:auto val="1"/>
        <c:lblAlgn val="ctr"/>
        <c:lblOffset val="100"/>
        <c:noMultiLvlLbl val="0"/>
      </c:catAx>
      <c:valAx>
        <c:axId val="13191616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0" i="0" u="none" strike="noStrike" baseline="0"/>
                  <a:t>Pourcentage (%)</a:t>
                </a:r>
                <a:endParaRPr lang="fr-F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159279"/>
        <c:crosses val="autoZero"/>
        <c:crossBetween val="between"/>
      </c:valAx>
      <c:valAx>
        <c:axId val="1319177039"/>
        <c:scaling>
          <c:orientation val="minMax"/>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fr-FR" sz="1000" b="0" i="0" u="none" strike="noStrike" baseline="0"/>
                  <a:t>Taux (décimal) </a:t>
                </a:r>
                <a:endParaRPr lang="fr-FR" b="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fr-FR"/>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319167439"/>
        <c:crosses val="max"/>
        <c:crossBetween val="between"/>
      </c:valAx>
      <c:catAx>
        <c:axId val="1319167439"/>
        <c:scaling>
          <c:orientation val="minMax"/>
        </c:scaling>
        <c:delete val="1"/>
        <c:axPos val="b"/>
        <c:numFmt formatCode="General" sourceLinked="1"/>
        <c:majorTickMark val="out"/>
        <c:minorTickMark val="none"/>
        <c:tickLblPos val="nextTo"/>
        <c:crossAx val="1319177039"/>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chart>
  <c:spPr>
    <a:noFill/>
    <a:ln>
      <a:noFill/>
    </a:ln>
    <a:effectLst/>
  </c:spPr>
  <c:txPr>
    <a:bodyPr/>
    <a:lstStyle/>
    <a:p>
      <a:pPr>
        <a:defRPr/>
      </a:pPr>
      <a:endParaRPr lang="fr-F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fr-FR"/>
              <a:t>Équilibre financier (2023–2025)</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manualLayout>
          <c:layoutTarget val="inner"/>
          <c:xMode val="edge"/>
          <c:yMode val="edge"/>
          <c:x val="0.21337270341207351"/>
          <c:y val="0.19486111111111112"/>
          <c:w val="0.7699606299212598"/>
          <c:h val="0.59275408282298037"/>
        </c:manualLayout>
      </c:layout>
      <c:barChart>
        <c:barDir val="col"/>
        <c:grouping val="clustered"/>
        <c:varyColors val="0"/>
        <c:ser>
          <c:idx val="1"/>
          <c:order val="1"/>
          <c:tx>
            <c:strRef>
              <c:f>'Équilibres financiers'!$B$1</c:f>
              <c:strCache>
                <c:ptCount val="1"/>
                <c:pt idx="0">
                  <c:v>FRF</c:v>
                </c:pt>
              </c:strCache>
            </c:strRef>
          </c:tx>
          <c:spPr>
            <a:solidFill>
              <a:schemeClr val="accent4"/>
            </a:solidFill>
            <a:ln>
              <a:noFill/>
            </a:ln>
            <a:effectLst/>
          </c:spPr>
          <c:invertIfNegative val="0"/>
          <c:dPt>
            <c:idx val="0"/>
            <c:invertIfNegative val="0"/>
            <c:bubble3D val="0"/>
            <c:spPr>
              <a:solidFill>
                <a:schemeClr val="accent4"/>
              </a:solidFill>
              <a:ln>
                <a:noFill/>
              </a:ln>
              <a:effectLst/>
            </c:spPr>
            <c:extLst>
              <c:ext xmlns:c16="http://schemas.microsoft.com/office/drawing/2014/chart" uri="{C3380CC4-5D6E-409C-BE32-E72D297353CC}">
                <c16:uniqueId val="{00000001-6625-4097-A5FE-2BCE0912D742}"/>
              </c:ext>
            </c:extLst>
          </c:dPt>
          <c:cat>
            <c:numRef>
              <c:f>'Équilibres financiers'!$A$2:$A$4</c:f>
              <c:numCache>
                <c:formatCode>General</c:formatCode>
                <c:ptCount val="3"/>
                <c:pt idx="0">
                  <c:v>2023</c:v>
                </c:pt>
                <c:pt idx="1">
                  <c:v>2024</c:v>
                </c:pt>
                <c:pt idx="2">
                  <c:v>2025</c:v>
                </c:pt>
              </c:numCache>
            </c:numRef>
          </c:cat>
          <c:val>
            <c:numRef>
              <c:f>'Équilibres financiers'!$B$2:$B$4</c:f>
              <c:numCache>
                <c:formatCode>0.00</c:formatCode>
                <c:ptCount val="3"/>
                <c:pt idx="0">
                  <c:v>-170419733.22</c:v>
                </c:pt>
                <c:pt idx="1">
                  <c:v>1177695530.3699999</c:v>
                </c:pt>
                <c:pt idx="2">
                  <c:v>2156516899.5599999</c:v>
                </c:pt>
              </c:numCache>
            </c:numRef>
          </c:val>
          <c:extLst>
            <c:ext xmlns:c16="http://schemas.microsoft.com/office/drawing/2014/chart" uri="{C3380CC4-5D6E-409C-BE32-E72D297353CC}">
              <c16:uniqueId val="{00000002-6625-4097-A5FE-2BCE0912D742}"/>
            </c:ext>
          </c:extLst>
        </c:ser>
        <c:ser>
          <c:idx val="2"/>
          <c:order val="2"/>
          <c:tx>
            <c:strRef>
              <c:f>'Équilibres financiers'!$C$1</c:f>
              <c:strCache>
                <c:ptCount val="1"/>
                <c:pt idx="0">
                  <c:v>BFRG</c:v>
                </c:pt>
              </c:strCache>
            </c:strRef>
          </c:tx>
          <c:spPr>
            <a:solidFill>
              <a:schemeClr val="accent6"/>
            </a:solidFill>
            <a:ln>
              <a:noFill/>
            </a:ln>
            <a:effectLst/>
          </c:spPr>
          <c:invertIfNegative val="0"/>
          <c:cat>
            <c:numRef>
              <c:f>'Équilibres financiers'!$A$2:$A$4</c:f>
              <c:numCache>
                <c:formatCode>General</c:formatCode>
                <c:ptCount val="3"/>
                <c:pt idx="0">
                  <c:v>2023</c:v>
                </c:pt>
                <c:pt idx="1">
                  <c:v>2024</c:v>
                </c:pt>
                <c:pt idx="2">
                  <c:v>2025</c:v>
                </c:pt>
              </c:numCache>
            </c:numRef>
          </c:cat>
          <c:val>
            <c:numRef>
              <c:f>'Équilibres financiers'!$C$2:$C$4</c:f>
              <c:numCache>
                <c:formatCode>0.00</c:formatCode>
                <c:ptCount val="3"/>
                <c:pt idx="0">
                  <c:v>-245773781.96000001</c:v>
                </c:pt>
                <c:pt idx="1">
                  <c:v>981196754.19000006</c:v>
                </c:pt>
                <c:pt idx="2">
                  <c:v>2034969650.25</c:v>
                </c:pt>
              </c:numCache>
            </c:numRef>
          </c:val>
          <c:extLst>
            <c:ext xmlns:c16="http://schemas.microsoft.com/office/drawing/2014/chart" uri="{C3380CC4-5D6E-409C-BE32-E72D297353CC}">
              <c16:uniqueId val="{00000003-6625-4097-A5FE-2BCE0912D742}"/>
            </c:ext>
          </c:extLst>
        </c:ser>
        <c:ser>
          <c:idx val="3"/>
          <c:order val="3"/>
          <c:tx>
            <c:strRef>
              <c:f>'Équilibres financiers'!$D$1</c:f>
              <c:strCache>
                <c:ptCount val="1"/>
                <c:pt idx="0">
                  <c:v>TN</c:v>
                </c:pt>
              </c:strCache>
            </c:strRef>
          </c:tx>
          <c:spPr>
            <a:solidFill>
              <a:schemeClr val="accent2">
                <a:lumMod val="60000"/>
              </a:schemeClr>
            </a:solidFill>
            <a:ln>
              <a:noFill/>
            </a:ln>
            <a:effectLst/>
          </c:spPr>
          <c:invertIfNegative val="0"/>
          <c:cat>
            <c:numRef>
              <c:f>'Équilibres financiers'!$A$2:$A$4</c:f>
              <c:numCache>
                <c:formatCode>General</c:formatCode>
                <c:ptCount val="3"/>
                <c:pt idx="0">
                  <c:v>2023</c:v>
                </c:pt>
                <c:pt idx="1">
                  <c:v>2024</c:v>
                </c:pt>
                <c:pt idx="2">
                  <c:v>2025</c:v>
                </c:pt>
              </c:numCache>
            </c:numRef>
          </c:cat>
          <c:val>
            <c:numRef>
              <c:f>'Équilibres financiers'!$D$2:$D$4</c:f>
              <c:numCache>
                <c:formatCode>0.00</c:formatCode>
                <c:ptCount val="3"/>
                <c:pt idx="0">
                  <c:v>75354048.739999995</c:v>
                </c:pt>
                <c:pt idx="1">
                  <c:v>196498776.18000001</c:v>
                </c:pt>
                <c:pt idx="2">
                  <c:v>121547249.31</c:v>
                </c:pt>
              </c:numCache>
            </c:numRef>
          </c:val>
          <c:extLst>
            <c:ext xmlns:c16="http://schemas.microsoft.com/office/drawing/2014/chart" uri="{C3380CC4-5D6E-409C-BE32-E72D297353CC}">
              <c16:uniqueId val="{00000004-6625-4097-A5FE-2BCE0912D742}"/>
            </c:ext>
          </c:extLst>
        </c:ser>
        <c:dLbls>
          <c:showLegendKey val="0"/>
          <c:showVal val="0"/>
          <c:showCatName val="0"/>
          <c:showSerName val="0"/>
          <c:showPercent val="0"/>
          <c:showBubbleSize val="0"/>
        </c:dLbls>
        <c:gapWidth val="219"/>
        <c:overlap val="-27"/>
        <c:axId val="1103560351"/>
        <c:axId val="1103574751"/>
        <c:extLst>
          <c:ext xmlns:c15="http://schemas.microsoft.com/office/drawing/2012/chart" uri="{02D57815-91ED-43cb-92C2-25804820EDAC}">
            <c15:filteredBarSeries>
              <c15:ser>
                <c:idx val="0"/>
                <c:order val="0"/>
                <c:tx>
                  <c:strRef>
                    <c:extLst>
                      <c:ext uri="{02D57815-91ED-43cb-92C2-25804820EDAC}">
                        <c15:formulaRef>
                          <c15:sqref>'Équilibres financiers'!$A$1</c15:sqref>
                        </c15:formulaRef>
                      </c:ext>
                    </c:extLst>
                    <c:strCache>
                      <c:ptCount val="1"/>
                      <c:pt idx="0">
                        <c:v>Année</c:v>
                      </c:pt>
                    </c:strCache>
                  </c:strRef>
                </c:tx>
                <c:spPr>
                  <a:solidFill>
                    <a:schemeClr val="accent2"/>
                  </a:solidFill>
                  <a:ln>
                    <a:noFill/>
                  </a:ln>
                  <a:effectLst/>
                </c:spPr>
                <c:invertIfNegative val="0"/>
                <c:cat>
                  <c:numRef>
                    <c:extLst>
                      <c:ext uri="{02D57815-91ED-43cb-92C2-25804820EDAC}">
                        <c15:formulaRef>
                          <c15:sqref>'Équilibres financiers'!$A$2:$A$4</c15:sqref>
                        </c15:formulaRef>
                      </c:ext>
                    </c:extLst>
                    <c:numCache>
                      <c:formatCode>General</c:formatCode>
                      <c:ptCount val="3"/>
                      <c:pt idx="0">
                        <c:v>2023</c:v>
                      </c:pt>
                      <c:pt idx="1">
                        <c:v>2024</c:v>
                      </c:pt>
                      <c:pt idx="2">
                        <c:v>2025</c:v>
                      </c:pt>
                    </c:numCache>
                  </c:numRef>
                </c:cat>
                <c:val>
                  <c:numRef>
                    <c:extLst>
                      <c:ext uri="{02D57815-91ED-43cb-92C2-25804820EDAC}">
                        <c15:formulaRef>
                          <c15:sqref>'Équilibres financiers'!$A$2:$A$4</c15:sqref>
                        </c15:formulaRef>
                      </c:ext>
                    </c:extLst>
                    <c:numCache>
                      <c:formatCode>General</c:formatCode>
                      <c:ptCount val="3"/>
                      <c:pt idx="0">
                        <c:v>2023</c:v>
                      </c:pt>
                      <c:pt idx="1">
                        <c:v>2024</c:v>
                      </c:pt>
                      <c:pt idx="2">
                        <c:v>2025</c:v>
                      </c:pt>
                    </c:numCache>
                  </c:numRef>
                </c:val>
                <c:extLst>
                  <c:ext xmlns:c16="http://schemas.microsoft.com/office/drawing/2014/chart" uri="{C3380CC4-5D6E-409C-BE32-E72D297353CC}">
                    <c16:uniqueId val="{00000005-6625-4097-A5FE-2BCE0912D742}"/>
                  </c:ext>
                </c:extLst>
              </c15:ser>
            </c15:filteredBarSeries>
          </c:ext>
        </c:extLst>
      </c:barChart>
      <c:catAx>
        <c:axId val="110356035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1920000" spcFirstLastPara="1" vertOverflow="ellipsis"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03574751"/>
        <c:crosses val="autoZero"/>
        <c:auto val="1"/>
        <c:lblAlgn val="ctr"/>
        <c:lblOffset val="100"/>
        <c:noMultiLvlLbl val="0"/>
      </c:catAx>
      <c:valAx>
        <c:axId val="1103574751"/>
        <c:scaling>
          <c:orientation val="minMax"/>
        </c:scaling>
        <c:delete val="0"/>
        <c:axPos val="l"/>
        <c:majorGridlines>
          <c:spPr>
            <a:ln w="9525" cap="flat" cmpd="sng" algn="ctr">
              <a:solidFill>
                <a:schemeClr val="tx1">
                  <a:lumMod val="15000"/>
                  <a:lumOff val="85000"/>
                </a:schemeClr>
              </a:solidFill>
              <a:round/>
            </a:ln>
            <a:effectLst/>
          </c:spPr>
        </c:majorGridlines>
        <c:numFmt formatCode="_-* #,##0\ [$DH-380C]_-;\-* #,##0\ [$DH-380C]_-;_-* &quot;-&quot;\ [$DH-380C]_-;_-@_-"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crossAx val="11035603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55DE61D-30EF-4C9B-8D44-E691F32398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a:p>
        </p:txBody>
      </p:sp>
      <p:sp>
        <p:nvSpPr>
          <p:cNvPr id="3" name="Espace réservé de la date 2">
            <a:extLst>
              <a:ext uri="{FF2B5EF4-FFF2-40B4-BE49-F238E27FC236}">
                <a16:creationId xmlns:a16="http://schemas.microsoft.com/office/drawing/2014/main" id="{2B68B3DF-723E-432F-969B-97B388C9E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D616270-690E-49A1-B76D-09755A848D0B}" type="datetime1">
              <a:rPr lang="fr-FR" smtClean="0"/>
              <a:t>28/02/2026</a:t>
            </a:fld>
            <a:endParaRPr lang="fr-FR"/>
          </a:p>
        </p:txBody>
      </p:sp>
      <p:sp>
        <p:nvSpPr>
          <p:cNvPr id="4" name="Espace réservé du pied de page 3">
            <a:extLst>
              <a:ext uri="{FF2B5EF4-FFF2-40B4-BE49-F238E27FC236}">
                <a16:creationId xmlns:a16="http://schemas.microsoft.com/office/drawing/2014/main" id="{10D9C936-9EF8-46A3-B2D4-DE8362A54E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a:p>
        </p:txBody>
      </p:sp>
      <p:sp>
        <p:nvSpPr>
          <p:cNvPr id="5" name="Espace réservé du numéro de diapositive 4">
            <a:extLst>
              <a:ext uri="{FF2B5EF4-FFF2-40B4-BE49-F238E27FC236}">
                <a16:creationId xmlns:a16="http://schemas.microsoft.com/office/drawing/2014/main" id="{E9F7898E-02B9-4C24-8F47-60A833CD361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2723B91B-56FA-44FF-A036-17B4166BAD1A}" type="slidenum">
              <a:rPr lang="fr-FR" smtClean="0"/>
              <a:t>‹N°›</a:t>
            </a:fld>
            <a:endParaRPr lang="fr-FR"/>
          </a:p>
        </p:txBody>
      </p:sp>
    </p:spTree>
    <p:extLst>
      <p:ext uri="{BB962C8B-B14F-4D97-AF65-F5344CB8AC3E}">
        <p14:creationId xmlns:p14="http://schemas.microsoft.com/office/powerpoint/2010/main" val="13772503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E2E284A4-61CB-4CE6-B318-16855430C475}" type="datetime1">
              <a:rPr lang="fr-FR" noProof="0" smtClean="0"/>
              <a:t>28/02/2026</a:t>
            </a:fld>
            <a:endParaRPr lang="fr-FR" noProof="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7F48DEA9-6F4F-4540-9E5D-C6F39079AF72}" type="slidenum">
              <a:rPr lang="fr-FR" noProof="0" smtClean="0"/>
              <a:t>‹N°›</a:t>
            </a:fld>
            <a:endParaRPr lang="fr-FR" noProof="0"/>
          </a:p>
        </p:txBody>
      </p:sp>
    </p:spTree>
    <p:extLst>
      <p:ext uri="{BB962C8B-B14F-4D97-AF65-F5344CB8AC3E}">
        <p14:creationId xmlns:p14="http://schemas.microsoft.com/office/powerpoint/2010/main" val="213365918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7F48DEA9-6F4F-4540-9E5D-C6F39079AF72}" type="slidenum">
              <a:rPr lang="fr-FR" smtClean="0"/>
              <a:t>1</a:t>
            </a:fld>
            <a:endParaRPr lang="fr-FR"/>
          </a:p>
        </p:txBody>
      </p:sp>
    </p:spTree>
    <p:extLst>
      <p:ext uri="{BB962C8B-B14F-4D97-AF65-F5344CB8AC3E}">
        <p14:creationId xmlns:p14="http://schemas.microsoft.com/office/powerpoint/2010/main" val="34292568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7F48DEA9-6F4F-4540-9E5D-C6F39079AF72}" type="slidenum">
              <a:rPr lang="fr-FR" smtClean="0"/>
              <a:t>2</a:t>
            </a:fld>
            <a:endParaRPr lang="fr-FR"/>
          </a:p>
        </p:txBody>
      </p:sp>
    </p:spTree>
    <p:extLst>
      <p:ext uri="{BB962C8B-B14F-4D97-AF65-F5344CB8AC3E}">
        <p14:creationId xmlns:p14="http://schemas.microsoft.com/office/powerpoint/2010/main" val="1314638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ABA21B-16B1-CAC6-60A2-957A962A276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F689B6F-3467-F0D0-5573-CB5BCF5AEEA2}"/>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372879C-F955-B3AC-F8AB-707E6DBE453B}"/>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73895243-613A-17BE-0382-3BA4BADC8EFC}"/>
              </a:ext>
            </a:extLst>
          </p:cNvPr>
          <p:cNvSpPr>
            <a:spLocks noGrp="1"/>
          </p:cNvSpPr>
          <p:nvPr>
            <p:ph type="sldNum" sz="quarter" idx="5"/>
          </p:nvPr>
        </p:nvSpPr>
        <p:spPr/>
        <p:txBody>
          <a:bodyPr rtlCol="0"/>
          <a:lstStyle/>
          <a:p>
            <a:pPr rtl="0"/>
            <a:fld id="{7F48DEA9-6F4F-4540-9E5D-C6F39079AF72}" type="slidenum">
              <a:rPr lang="fr-FR" smtClean="0"/>
              <a:t>3</a:t>
            </a:fld>
            <a:endParaRPr lang="fr-FR"/>
          </a:p>
        </p:txBody>
      </p:sp>
    </p:spTree>
    <p:extLst>
      <p:ext uri="{BB962C8B-B14F-4D97-AF65-F5344CB8AC3E}">
        <p14:creationId xmlns:p14="http://schemas.microsoft.com/office/powerpoint/2010/main" val="13505463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4C004-8D1F-0431-BFDA-652B2E630E8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71B3896-5259-71B7-AA9B-7C0EC81EA3FE}"/>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349D5B40-8D9D-2675-2F57-4AD8EED60DC9}"/>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3CB50C47-0EF5-134F-17BE-70C8BB6FEB06}"/>
              </a:ext>
            </a:extLst>
          </p:cNvPr>
          <p:cNvSpPr>
            <a:spLocks noGrp="1"/>
          </p:cNvSpPr>
          <p:nvPr>
            <p:ph type="sldNum" sz="quarter" idx="5"/>
          </p:nvPr>
        </p:nvSpPr>
        <p:spPr/>
        <p:txBody>
          <a:bodyPr rtlCol="0"/>
          <a:lstStyle/>
          <a:p>
            <a:pPr rtl="0"/>
            <a:fld id="{7F48DEA9-6F4F-4540-9E5D-C6F39079AF72}" type="slidenum">
              <a:rPr lang="fr-FR" smtClean="0"/>
              <a:t>4</a:t>
            </a:fld>
            <a:endParaRPr lang="fr-FR"/>
          </a:p>
        </p:txBody>
      </p:sp>
    </p:spTree>
    <p:extLst>
      <p:ext uri="{BB962C8B-B14F-4D97-AF65-F5344CB8AC3E}">
        <p14:creationId xmlns:p14="http://schemas.microsoft.com/office/powerpoint/2010/main" val="23736167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AD976-2F2A-284A-49EB-1C94DC228CC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A07CC5D-2068-A323-4093-775580548EB5}"/>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4FE69F02-0B10-77D5-0E30-D50A417014F0}"/>
              </a:ext>
            </a:extLst>
          </p:cNvPr>
          <p:cNvSpPr>
            <a:spLocks noGrp="1"/>
          </p:cNvSpPr>
          <p:nvPr>
            <p:ph type="body" idx="1"/>
          </p:nvPr>
        </p:nvSpPr>
        <p:spPr/>
        <p:txBody>
          <a:bodyPr rtlCol="0"/>
          <a:lstStyle/>
          <a:p>
            <a:pPr rtl="0"/>
            <a:endParaRPr lang="fr-FR"/>
          </a:p>
        </p:txBody>
      </p:sp>
      <p:sp>
        <p:nvSpPr>
          <p:cNvPr id="4" name="Espace réservé du numéro de diapositive 3">
            <a:extLst>
              <a:ext uri="{FF2B5EF4-FFF2-40B4-BE49-F238E27FC236}">
                <a16:creationId xmlns:a16="http://schemas.microsoft.com/office/drawing/2014/main" id="{DC7B7D35-AD52-46B1-CEBB-1F509449AF20}"/>
              </a:ext>
            </a:extLst>
          </p:cNvPr>
          <p:cNvSpPr>
            <a:spLocks noGrp="1"/>
          </p:cNvSpPr>
          <p:nvPr>
            <p:ph type="sldNum" sz="quarter" idx="5"/>
          </p:nvPr>
        </p:nvSpPr>
        <p:spPr/>
        <p:txBody>
          <a:bodyPr rtlCol="0"/>
          <a:lstStyle/>
          <a:p>
            <a:pPr rtl="0"/>
            <a:fld id="{7F48DEA9-6F4F-4540-9E5D-C6F39079AF72}" type="slidenum">
              <a:rPr lang="fr-FR" smtClean="0"/>
              <a:t>5</a:t>
            </a:fld>
            <a:endParaRPr lang="fr-FR"/>
          </a:p>
        </p:txBody>
      </p:sp>
    </p:spTree>
    <p:extLst>
      <p:ext uri="{BB962C8B-B14F-4D97-AF65-F5344CB8AC3E}">
        <p14:creationId xmlns:p14="http://schemas.microsoft.com/office/powerpoint/2010/main" val="1245092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a:p>
        </p:txBody>
      </p:sp>
      <p:sp>
        <p:nvSpPr>
          <p:cNvPr id="4" name="Espace réservé du numéro de diapositive 3"/>
          <p:cNvSpPr>
            <a:spLocks noGrp="1"/>
          </p:cNvSpPr>
          <p:nvPr>
            <p:ph type="sldNum" sz="quarter" idx="5"/>
          </p:nvPr>
        </p:nvSpPr>
        <p:spPr/>
        <p:txBody>
          <a:bodyPr rtlCol="0"/>
          <a:lstStyle/>
          <a:p>
            <a:pPr rtl="0"/>
            <a:fld id="{7F48DEA9-6F4F-4540-9E5D-C6F39079AF72}" type="slidenum">
              <a:rPr lang="fr-FR" smtClean="0"/>
              <a:t>6</a:t>
            </a:fld>
            <a:endParaRPr lang="fr-FR"/>
          </a:p>
        </p:txBody>
      </p:sp>
    </p:spTree>
    <p:extLst>
      <p:ext uri="{BB962C8B-B14F-4D97-AF65-F5344CB8AC3E}">
        <p14:creationId xmlns:p14="http://schemas.microsoft.com/office/powerpoint/2010/main" val="4095350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DFA53E-2262-4CAE-5E41-BF080724A012}"/>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4F10C332-EB81-1F7F-49C5-F4A66BECAB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B5C22DEC-1FEB-D576-C063-57B586C63422}"/>
              </a:ext>
            </a:extLst>
          </p:cNvPr>
          <p:cNvSpPr>
            <a:spLocks noGrp="1"/>
          </p:cNvSpPr>
          <p:nvPr>
            <p:ph type="dt" sz="half" idx="10"/>
          </p:nvPr>
        </p:nvSpPr>
        <p:spPr/>
        <p:txBody>
          <a:bodyPr/>
          <a:lstStyle/>
          <a:p>
            <a:pPr rtl="0"/>
            <a:fld id="{274F5311-0082-474C-8C15-C5B51FABEDA4}" type="datetime1">
              <a:rPr lang="fr-FR" noProof="0" smtClean="0"/>
              <a:t>28/02/2026</a:t>
            </a:fld>
            <a:endParaRPr lang="fr-FR" noProof="0"/>
          </a:p>
        </p:txBody>
      </p:sp>
      <p:sp>
        <p:nvSpPr>
          <p:cNvPr id="5" name="Espace réservé du pied de page 4">
            <a:extLst>
              <a:ext uri="{FF2B5EF4-FFF2-40B4-BE49-F238E27FC236}">
                <a16:creationId xmlns:a16="http://schemas.microsoft.com/office/drawing/2014/main" id="{75445469-9293-B9CC-B052-3A5309408023}"/>
              </a:ext>
            </a:extLst>
          </p:cNvPr>
          <p:cNvSpPr>
            <a:spLocks noGrp="1"/>
          </p:cNvSpPr>
          <p:nvPr>
            <p:ph type="ftr" sz="quarter" idx="11"/>
          </p:nvPr>
        </p:nvSpPr>
        <p:spPr/>
        <p:txBody>
          <a:bodyPr/>
          <a:lstStyle/>
          <a:p>
            <a:pPr rtl="0"/>
            <a:r>
              <a:rPr lang="fr-FR" noProof="0"/>
              <a:t>Votre logo ici</a:t>
            </a:r>
          </a:p>
        </p:txBody>
      </p:sp>
      <p:sp>
        <p:nvSpPr>
          <p:cNvPr id="6" name="Espace réservé du numéro de diapositive 5">
            <a:extLst>
              <a:ext uri="{FF2B5EF4-FFF2-40B4-BE49-F238E27FC236}">
                <a16:creationId xmlns:a16="http://schemas.microsoft.com/office/drawing/2014/main" id="{9A47E0BB-BE38-388E-2ADC-3250BECE6DA8}"/>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4938220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699480F-3244-71AA-30A3-DAE1CDCAEA13}"/>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15B3950E-26CF-A6BD-51F6-1D19A150D64F}"/>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7C6E5D6-FB19-D029-2B61-5A3C6393539E}"/>
              </a:ext>
            </a:extLst>
          </p:cNvPr>
          <p:cNvSpPr>
            <a:spLocks noGrp="1"/>
          </p:cNvSpPr>
          <p:nvPr>
            <p:ph type="dt" sz="half" idx="10"/>
          </p:nvPr>
        </p:nvSpPr>
        <p:spPr/>
        <p:txBody>
          <a:bodyPr/>
          <a:lstStyle/>
          <a:p>
            <a:pPr rtl="0"/>
            <a:fld id="{A95028CE-1BE9-409B-AC17-6C7A63024769}" type="datetime1">
              <a:rPr lang="fr-FR" noProof="0" smtClean="0"/>
              <a:t>28/02/2026</a:t>
            </a:fld>
            <a:endParaRPr lang="fr-FR" noProof="0"/>
          </a:p>
        </p:txBody>
      </p:sp>
      <p:sp>
        <p:nvSpPr>
          <p:cNvPr id="5" name="Espace réservé du pied de page 4">
            <a:extLst>
              <a:ext uri="{FF2B5EF4-FFF2-40B4-BE49-F238E27FC236}">
                <a16:creationId xmlns:a16="http://schemas.microsoft.com/office/drawing/2014/main" id="{7C1CD95B-6AFD-6BCE-FD9C-4D8A7338749E}"/>
              </a:ext>
            </a:extLst>
          </p:cNvPr>
          <p:cNvSpPr>
            <a:spLocks noGrp="1"/>
          </p:cNvSpPr>
          <p:nvPr>
            <p:ph type="ftr" sz="quarter" idx="11"/>
          </p:nvPr>
        </p:nvSpPr>
        <p:spPr/>
        <p:txBody>
          <a:bodyPr/>
          <a:lstStyle/>
          <a:p>
            <a:pPr rtl="0"/>
            <a:r>
              <a:rPr lang="fr-FR" noProof="0"/>
              <a:t>Votre logo ici</a:t>
            </a:r>
          </a:p>
        </p:txBody>
      </p:sp>
      <p:sp>
        <p:nvSpPr>
          <p:cNvPr id="6" name="Espace réservé du numéro de diapositive 5">
            <a:extLst>
              <a:ext uri="{FF2B5EF4-FFF2-40B4-BE49-F238E27FC236}">
                <a16:creationId xmlns:a16="http://schemas.microsoft.com/office/drawing/2014/main" id="{71658C9F-2C0A-01F0-6273-B2CEAB45284E}"/>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340745437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C845B7-C7FD-8357-A7D3-A60BE4923F2B}"/>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FC2B25EB-088B-CE2B-D9C7-0B9D4645CF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17BC849-EFF6-546D-A6E8-4157C7D818BF}"/>
              </a:ext>
            </a:extLst>
          </p:cNvPr>
          <p:cNvSpPr>
            <a:spLocks noGrp="1"/>
          </p:cNvSpPr>
          <p:nvPr>
            <p:ph type="dt" sz="half" idx="10"/>
          </p:nvPr>
        </p:nvSpPr>
        <p:spPr/>
        <p:txBody>
          <a:bodyPr/>
          <a:lstStyle/>
          <a:p>
            <a:pPr rtl="0"/>
            <a:fld id="{A95028CE-1BE9-409B-AC17-6C7A63024769}" type="datetime1">
              <a:rPr lang="fr-FR" noProof="0" smtClean="0"/>
              <a:t>28/02/2026</a:t>
            </a:fld>
            <a:endParaRPr lang="fr-FR" noProof="0"/>
          </a:p>
        </p:txBody>
      </p:sp>
      <p:sp>
        <p:nvSpPr>
          <p:cNvPr id="5" name="Espace réservé du pied de page 4">
            <a:extLst>
              <a:ext uri="{FF2B5EF4-FFF2-40B4-BE49-F238E27FC236}">
                <a16:creationId xmlns:a16="http://schemas.microsoft.com/office/drawing/2014/main" id="{40BE5AC4-E56D-2D29-74EF-98887D29ED96}"/>
              </a:ext>
            </a:extLst>
          </p:cNvPr>
          <p:cNvSpPr>
            <a:spLocks noGrp="1"/>
          </p:cNvSpPr>
          <p:nvPr>
            <p:ph type="ftr" sz="quarter" idx="11"/>
          </p:nvPr>
        </p:nvSpPr>
        <p:spPr/>
        <p:txBody>
          <a:bodyPr/>
          <a:lstStyle/>
          <a:p>
            <a:pPr rtl="0"/>
            <a:r>
              <a:rPr lang="fr-FR" noProof="0"/>
              <a:t>Votre logo ici</a:t>
            </a:r>
          </a:p>
        </p:txBody>
      </p:sp>
      <p:sp>
        <p:nvSpPr>
          <p:cNvPr id="6" name="Espace réservé du numéro de diapositive 5">
            <a:extLst>
              <a:ext uri="{FF2B5EF4-FFF2-40B4-BE49-F238E27FC236}">
                <a16:creationId xmlns:a16="http://schemas.microsoft.com/office/drawing/2014/main" id="{39091FD3-1E74-995F-B04A-2BD38BFE84CE}"/>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352783945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98B424-46DF-03D7-65CC-01938850E17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95FACAA-82B3-8443-E49E-4ED2C261A451}"/>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B0934A4C-8707-8662-8AB4-EDBD6E4524A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6ADE3700-74A3-C8F3-D1A0-856BB05D50A1}"/>
              </a:ext>
            </a:extLst>
          </p:cNvPr>
          <p:cNvSpPr>
            <a:spLocks noGrp="1"/>
          </p:cNvSpPr>
          <p:nvPr>
            <p:ph type="dt" sz="half" idx="10"/>
          </p:nvPr>
        </p:nvSpPr>
        <p:spPr/>
        <p:txBody>
          <a:bodyPr/>
          <a:lstStyle/>
          <a:p>
            <a:pPr rtl="0"/>
            <a:fld id="{A95028CE-1BE9-409B-AC17-6C7A63024769}" type="datetime1">
              <a:rPr lang="fr-FR" noProof="0" smtClean="0"/>
              <a:t>28/02/2026</a:t>
            </a:fld>
            <a:endParaRPr lang="fr-FR" noProof="0"/>
          </a:p>
        </p:txBody>
      </p:sp>
      <p:sp>
        <p:nvSpPr>
          <p:cNvPr id="6" name="Espace réservé du pied de page 5">
            <a:extLst>
              <a:ext uri="{FF2B5EF4-FFF2-40B4-BE49-F238E27FC236}">
                <a16:creationId xmlns:a16="http://schemas.microsoft.com/office/drawing/2014/main" id="{606FF88F-693F-7BA9-4111-34862EA979EA}"/>
              </a:ext>
            </a:extLst>
          </p:cNvPr>
          <p:cNvSpPr>
            <a:spLocks noGrp="1"/>
          </p:cNvSpPr>
          <p:nvPr>
            <p:ph type="ftr" sz="quarter" idx="11"/>
          </p:nvPr>
        </p:nvSpPr>
        <p:spPr/>
        <p:txBody>
          <a:bodyPr/>
          <a:lstStyle/>
          <a:p>
            <a:pPr rtl="0"/>
            <a:r>
              <a:rPr lang="fr-FR" noProof="0"/>
              <a:t>Votre logo ici</a:t>
            </a:r>
          </a:p>
        </p:txBody>
      </p:sp>
      <p:sp>
        <p:nvSpPr>
          <p:cNvPr id="7" name="Espace réservé du numéro de diapositive 6">
            <a:extLst>
              <a:ext uri="{FF2B5EF4-FFF2-40B4-BE49-F238E27FC236}">
                <a16:creationId xmlns:a16="http://schemas.microsoft.com/office/drawing/2014/main" id="{56D2CA13-1BB5-30D7-1BDD-F62C47D2AF6B}"/>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280184274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1FE762-2A1F-CDF3-93F5-0668B6E02A2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28C20617-D096-C9D1-89FA-461EFA4DBD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362BF96-3178-9F0A-1299-2A664B79F2C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C7690428-71A2-9853-D7B6-6F3FB33B6D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E664666-BA00-AA3A-4087-E1962C464F9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C1E48CA-6330-847F-0E09-68A72C7584A5}"/>
              </a:ext>
            </a:extLst>
          </p:cNvPr>
          <p:cNvSpPr>
            <a:spLocks noGrp="1"/>
          </p:cNvSpPr>
          <p:nvPr>
            <p:ph type="dt" sz="half" idx="10"/>
          </p:nvPr>
        </p:nvSpPr>
        <p:spPr/>
        <p:txBody>
          <a:bodyPr/>
          <a:lstStyle/>
          <a:p>
            <a:pPr rtl="0"/>
            <a:fld id="{A95028CE-1BE9-409B-AC17-6C7A63024769}" type="datetime1">
              <a:rPr lang="fr-FR" noProof="0" smtClean="0"/>
              <a:t>28/02/2026</a:t>
            </a:fld>
            <a:endParaRPr lang="fr-FR" noProof="0"/>
          </a:p>
        </p:txBody>
      </p:sp>
      <p:sp>
        <p:nvSpPr>
          <p:cNvPr id="8" name="Espace réservé du pied de page 7">
            <a:extLst>
              <a:ext uri="{FF2B5EF4-FFF2-40B4-BE49-F238E27FC236}">
                <a16:creationId xmlns:a16="http://schemas.microsoft.com/office/drawing/2014/main" id="{76F8C3A3-B873-D56E-1FA7-AFD4BA9168CC}"/>
              </a:ext>
            </a:extLst>
          </p:cNvPr>
          <p:cNvSpPr>
            <a:spLocks noGrp="1"/>
          </p:cNvSpPr>
          <p:nvPr>
            <p:ph type="ftr" sz="quarter" idx="11"/>
          </p:nvPr>
        </p:nvSpPr>
        <p:spPr/>
        <p:txBody>
          <a:bodyPr/>
          <a:lstStyle/>
          <a:p>
            <a:pPr rtl="0"/>
            <a:r>
              <a:rPr lang="fr-FR" noProof="0"/>
              <a:t>Votre logo ici</a:t>
            </a:r>
          </a:p>
        </p:txBody>
      </p:sp>
      <p:sp>
        <p:nvSpPr>
          <p:cNvPr id="9" name="Espace réservé du numéro de diapositive 8">
            <a:extLst>
              <a:ext uri="{FF2B5EF4-FFF2-40B4-BE49-F238E27FC236}">
                <a16:creationId xmlns:a16="http://schemas.microsoft.com/office/drawing/2014/main" id="{F6996D72-2658-A528-7D7F-71ED8927C974}"/>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3254763968"/>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26EA83-09DA-AC8A-85F5-771EBE99F8AC}"/>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A61674B7-C63E-B7B5-FEAD-9B5239268610}"/>
              </a:ext>
            </a:extLst>
          </p:cNvPr>
          <p:cNvSpPr>
            <a:spLocks noGrp="1"/>
          </p:cNvSpPr>
          <p:nvPr>
            <p:ph type="dt" sz="half" idx="10"/>
          </p:nvPr>
        </p:nvSpPr>
        <p:spPr/>
        <p:txBody>
          <a:bodyPr/>
          <a:lstStyle/>
          <a:p>
            <a:pPr rtl="0"/>
            <a:fld id="{A95028CE-1BE9-409B-AC17-6C7A63024769}" type="datetime1">
              <a:rPr lang="fr-FR" noProof="0" smtClean="0"/>
              <a:t>28/02/2026</a:t>
            </a:fld>
            <a:endParaRPr lang="fr-FR" noProof="0"/>
          </a:p>
        </p:txBody>
      </p:sp>
      <p:sp>
        <p:nvSpPr>
          <p:cNvPr id="4" name="Espace réservé du pied de page 3">
            <a:extLst>
              <a:ext uri="{FF2B5EF4-FFF2-40B4-BE49-F238E27FC236}">
                <a16:creationId xmlns:a16="http://schemas.microsoft.com/office/drawing/2014/main" id="{B3019777-7103-6560-B778-7B0CFA40F35D}"/>
              </a:ext>
            </a:extLst>
          </p:cNvPr>
          <p:cNvSpPr>
            <a:spLocks noGrp="1"/>
          </p:cNvSpPr>
          <p:nvPr>
            <p:ph type="ftr" sz="quarter" idx="11"/>
          </p:nvPr>
        </p:nvSpPr>
        <p:spPr/>
        <p:txBody>
          <a:bodyPr/>
          <a:lstStyle/>
          <a:p>
            <a:pPr rtl="0"/>
            <a:r>
              <a:rPr lang="fr-FR" noProof="0"/>
              <a:t>Votre logo ici</a:t>
            </a:r>
          </a:p>
        </p:txBody>
      </p:sp>
      <p:sp>
        <p:nvSpPr>
          <p:cNvPr id="5" name="Espace réservé du numéro de diapositive 4">
            <a:extLst>
              <a:ext uri="{FF2B5EF4-FFF2-40B4-BE49-F238E27FC236}">
                <a16:creationId xmlns:a16="http://schemas.microsoft.com/office/drawing/2014/main" id="{070E1E7B-914A-CECB-DDB0-B03D4A147659}"/>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1727705776"/>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22E9071-388E-0540-5A2C-AE654F64A588}"/>
              </a:ext>
            </a:extLst>
          </p:cNvPr>
          <p:cNvSpPr>
            <a:spLocks noGrp="1"/>
          </p:cNvSpPr>
          <p:nvPr>
            <p:ph type="dt" sz="half" idx="10"/>
          </p:nvPr>
        </p:nvSpPr>
        <p:spPr/>
        <p:txBody>
          <a:bodyPr/>
          <a:lstStyle/>
          <a:p>
            <a:fld id="{48A87A34-81AB-432B-8DAE-1953F412C126}" type="datetimeFigureOut">
              <a:rPr lang="en-US" smtClean="0"/>
              <a:t>2/28/2026</a:t>
            </a:fld>
            <a:endParaRPr lang="en-US" dirty="0"/>
          </a:p>
        </p:txBody>
      </p:sp>
      <p:sp>
        <p:nvSpPr>
          <p:cNvPr id="3" name="Espace réservé du pied de page 2">
            <a:extLst>
              <a:ext uri="{FF2B5EF4-FFF2-40B4-BE49-F238E27FC236}">
                <a16:creationId xmlns:a16="http://schemas.microsoft.com/office/drawing/2014/main" id="{F929B4B9-67FA-55C7-786A-939D4382042A}"/>
              </a:ext>
            </a:extLst>
          </p:cNvPr>
          <p:cNvSpPr>
            <a:spLocks noGrp="1"/>
          </p:cNvSpPr>
          <p:nvPr>
            <p:ph type="ftr" sz="quarter" idx="11"/>
          </p:nvPr>
        </p:nvSpPr>
        <p:spPr/>
        <p:txBody>
          <a:bodyPr/>
          <a:lstStyle/>
          <a:p>
            <a:pPr rtl="0"/>
            <a:r>
              <a:rPr lang="fr-FR" noProof="0"/>
              <a:t>Votre logo ici</a:t>
            </a:r>
          </a:p>
        </p:txBody>
      </p:sp>
      <p:sp>
        <p:nvSpPr>
          <p:cNvPr id="4" name="Espace réservé du numéro de diapositive 3">
            <a:extLst>
              <a:ext uri="{FF2B5EF4-FFF2-40B4-BE49-F238E27FC236}">
                <a16:creationId xmlns:a16="http://schemas.microsoft.com/office/drawing/2014/main" id="{CED3240B-F738-6B35-369E-146E7650196F}"/>
              </a:ext>
            </a:extLst>
          </p:cNvPr>
          <p:cNvSpPr>
            <a:spLocks noGrp="1"/>
          </p:cNvSpPr>
          <p:nvPr>
            <p:ph type="sldNum" sz="quarter" idx="12"/>
          </p:nvPr>
        </p:nvSpPr>
        <p:spPr/>
        <p:txBody>
          <a:bodyPr/>
          <a:lstStyle/>
          <a:p>
            <a:pPr rtl="0"/>
            <a:fld id="{0FD50806-BABF-4915-9689-3B9956D1C75C}" type="slidenum">
              <a:rPr lang="fr-FR" noProof="0" smtClean="0"/>
              <a:pPr/>
              <a:t>‹N°›</a:t>
            </a:fld>
            <a:endParaRPr lang="fr-FR" noProof="0"/>
          </a:p>
        </p:txBody>
      </p:sp>
      <p:sp>
        <p:nvSpPr>
          <p:cNvPr id="5" name="Rectangle 4">
            <a:extLst>
              <a:ext uri="{FF2B5EF4-FFF2-40B4-BE49-F238E27FC236}">
                <a16:creationId xmlns:a16="http://schemas.microsoft.com/office/drawing/2014/main" id="{0CCBE3C6-9285-0366-B74C-2EDE1BD3881D}"/>
              </a:ext>
            </a:extLst>
          </p:cNvPr>
          <p:cNvSpPr/>
          <p:nvPr userDrawn="1"/>
        </p:nvSpPr>
        <p:spPr>
          <a:xfrm>
            <a:off x="0" y="6511448"/>
            <a:ext cx="10263189"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6" name="Rectangle 5">
            <a:extLst>
              <a:ext uri="{FF2B5EF4-FFF2-40B4-BE49-F238E27FC236}">
                <a16:creationId xmlns:a16="http://schemas.microsoft.com/office/drawing/2014/main" id="{6057095D-38A1-D4CD-D2A9-C734AEA137B7}"/>
              </a:ext>
            </a:extLst>
          </p:cNvPr>
          <p:cNvSpPr/>
          <p:nvPr userDrawn="1"/>
        </p:nvSpPr>
        <p:spPr>
          <a:xfrm>
            <a:off x="11620500" y="525817"/>
            <a:ext cx="571500" cy="492443"/>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000" noProof="0">
              <a:solidFill>
                <a:schemeClr val="tx1">
                  <a:lumMod val="75000"/>
                  <a:lumOff val="25000"/>
                </a:schemeClr>
              </a:solidFill>
            </a:endParaRPr>
          </a:p>
        </p:txBody>
      </p:sp>
      <p:sp>
        <p:nvSpPr>
          <p:cNvPr id="7" name="Rectangle 12">
            <a:extLst>
              <a:ext uri="{FF2B5EF4-FFF2-40B4-BE49-F238E27FC236}">
                <a16:creationId xmlns:a16="http://schemas.microsoft.com/office/drawing/2014/main" id="{0830A9CE-9D30-77D2-49F4-8D9439424521}"/>
              </a:ext>
            </a:extLst>
          </p:cNvPr>
          <p:cNvSpPr/>
          <p:nvPr userDrawn="1"/>
        </p:nvSpPr>
        <p:spPr>
          <a:xfrm>
            <a:off x="11824884" y="6511448"/>
            <a:ext cx="367116" cy="2735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grpSp>
        <p:nvGrpSpPr>
          <p:cNvPr id="8" name="Groupe 7">
            <a:extLst>
              <a:ext uri="{FF2B5EF4-FFF2-40B4-BE49-F238E27FC236}">
                <a16:creationId xmlns:a16="http://schemas.microsoft.com/office/drawing/2014/main" id="{BF59F0B6-6970-FEE9-2B63-C07731232DB1}"/>
              </a:ext>
            </a:extLst>
          </p:cNvPr>
          <p:cNvGrpSpPr/>
          <p:nvPr userDrawn="1"/>
        </p:nvGrpSpPr>
        <p:grpSpPr>
          <a:xfrm>
            <a:off x="334126" y="6577411"/>
            <a:ext cx="1084573" cy="141598"/>
            <a:chOff x="334126" y="6490192"/>
            <a:chExt cx="1084573" cy="141598"/>
          </a:xfrm>
        </p:grpSpPr>
        <p:sp>
          <p:nvSpPr>
            <p:cNvPr id="9" name="Rectangle : Coins arrondis 15">
              <a:extLst>
                <a:ext uri="{FF2B5EF4-FFF2-40B4-BE49-F238E27FC236}">
                  <a16:creationId xmlns:a16="http://schemas.microsoft.com/office/drawing/2014/main" id="{2BB67C81-0A0D-7C92-A9B7-88EF078CB974}"/>
                </a:ext>
              </a:extLst>
            </p:cNvPr>
            <p:cNvSpPr/>
            <p:nvPr/>
          </p:nvSpPr>
          <p:spPr>
            <a:xfrm rot="18900000" flipH="1">
              <a:off x="334126" y="6490192"/>
              <a:ext cx="141598" cy="141598"/>
            </a:xfrm>
            <a:prstGeom prst="roundRect">
              <a:avLst>
                <a:gd name="adj" fmla="val 11080"/>
              </a:avLst>
            </a:prstGeom>
            <a:solidFill>
              <a:srgbClr val="CE2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0" name="Rectangle : Coins arrondis 16">
              <a:extLst>
                <a:ext uri="{FF2B5EF4-FFF2-40B4-BE49-F238E27FC236}">
                  <a16:creationId xmlns:a16="http://schemas.microsoft.com/office/drawing/2014/main" id="{07DA5BF2-2FBF-7965-5651-2DBF239F1CBC}"/>
                </a:ext>
              </a:extLst>
            </p:cNvPr>
            <p:cNvSpPr/>
            <p:nvPr/>
          </p:nvSpPr>
          <p:spPr>
            <a:xfrm rot="18900000" flipH="1">
              <a:off x="648451" y="6490192"/>
              <a:ext cx="141598" cy="141598"/>
            </a:xfrm>
            <a:prstGeom prst="roundRect">
              <a:avLst>
                <a:gd name="adj" fmla="val 1108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1" name="Rectangle : Coins arrondis 17">
              <a:extLst>
                <a:ext uri="{FF2B5EF4-FFF2-40B4-BE49-F238E27FC236}">
                  <a16:creationId xmlns:a16="http://schemas.microsoft.com/office/drawing/2014/main" id="{BDFA6BC7-8993-EF5F-ED67-1BF2747573B0}"/>
                </a:ext>
              </a:extLst>
            </p:cNvPr>
            <p:cNvSpPr/>
            <p:nvPr/>
          </p:nvSpPr>
          <p:spPr>
            <a:xfrm rot="18900000" flipH="1">
              <a:off x="962776" y="6490192"/>
              <a:ext cx="141598" cy="141598"/>
            </a:xfrm>
            <a:prstGeom prst="roundRect">
              <a:avLst>
                <a:gd name="adj" fmla="val 11080"/>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sp>
          <p:nvSpPr>
            <p:cNvPr id="12" name="Rectangle : Coins arrondis 18">
              <a:extLst>
                <a:ext uri="{FF2B5EF4-FFF2-40B4-BE49-F238E27FC236}">
                  <a16:creationId xmlns:a16="http://schemas.microsoft.com/office/drawing/2014/main" id="{E1BAE2CA-8EB5-82D2-61D3-1BEC0A124A4F}"/>
                </a:ext>
              </a:extLst>
            </p:cNvPr>
            <p:cNvSpPr/>
            <p:nvPr/>
          </p:nvSpPr>
          <p:spPr>
            <a:xfrm rot="18900000" flipH="1">
              <a:off x="1277101" y="6490192"/>
              <a:ext cx="141598" cy="141598"/>
            </a:xfrm>
            <a:prstGeom prst="roundRect">
              <a:avLst>
                <a:gd name="adj" fmla="val 1108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a:p>
          </p:txBody>
        </p:sp>
      </p:grpSp>
    </p:spTree>
    <p:extLst>
      <p:ext uri="{BB962C8B-B14F-4D97-AF65-F5344CB8AC3E}">
        <p14:creationId xmlns:p14="http://schemas.microsoft.com/office/powerpoint/2010/main" val="3573298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18CD28-C551-19BB-C0AF-3F4BD8A57BD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D668EF6-7CE4-870D-CBBF-7A72C570A1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5C12C9F-8943-1059-1658-4F71F26278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C6F79AC-243D-6447-C540-84DD65351572}"/>
              </a:ext>
            </a:extLst>
          </p:cNvPr>
          <p:cNvSpPr>
            <a:spLocks noGrp="1"/>
          </p:cNvSpPr>
          <p:nvPr>
            <p:ph type="dt" sz="half" idx="10"/>
          </p:nvPr>
        </p:nvSpPr>
        <p:spPr/>
        <p:txBody>
          <a:bodyPr/>
          <a:lstStyle/>
          <a:p>
            <a:pPr rtl="0"/>
            <a:fld id="{A95028CE-1BE9-409B-AC17-6C7A63024769}" type="datetime1">
              <a:rPr lang="fr-FR" noProof="0" smtClean="0"/>
              <a:t>28/02/2026</a:t>
            </a:fld>
            <a:endParaRPr lang="fr-FR" noProof="0"/>
          </a:p>
        </p:txBody>
      </p:sp>
      <p:sp>
        <p:nvSpPr>
          <p:cNvPr id="6" name="Espace réservé du pied de page 5">
            <a:extLst>
              <a:ext uri="{FF2B5EF4-FFF2-40B4-BE49-F238E27FC236}">
                <a16:creationId xmlns:a16="http://schemas.microsoft.com/office/drawing/2014/main" id="{B8F3CA12-3777-3A16-78EE-7D94CC834494}"/>
              </a:ext>
            </a:extLst>
          </p:cNvPr>
          <p:cNvSpPr>
            <a:spLocks noGrp="1"/>
          </p:cNvSpPr>
          <p:nvPr>
            <p:ph type="ftr" sz="quarter" idx="11"/>
          </p:nvPr>
        </p:nvSpPr>
        <p:spPr/>
        <p:txBody>
          <a:bodyPr/>
          <a:lstStyle/>
          <a:p>
            <a:pPr rtl="0"/>
            <a:r>
              <a:rPr lang="fr-FR" noProof="0"/>
              <a:t>Votre logo ici</a:t>
            </a:r>
          </a:p>
        </p:txBody>
      </p:sp>
      <p:sp>
        <p:nvSpPr>
          <p:cNvPr id="7" name="Espace réservé du numéro de diapositive 6">
            <a:extLst>
              <a:ext uri="{FF2B5EF4-FFF2-40B4-BE49-F238E27FC236}">
                <a16:creationId xmlns:a16="http://schemas.microsoft.com/office/drawing/2014/main" id="{069C1FF2-F785-CA9D-8CAC-D5089C222EB7}"/>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2012208417"/>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565385-E342-0BEA-9AFE-B54432B49B9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DF68BA5-CBBB-3A08-03B2-879EFA3073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9A349DFB-E460-A741-C683-7BA41FA718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9D54B43-F310-BDBA-5F89-4ED59A1DFE23}"/>
              </a:ext>
            </a:extLst>
          </p:cNvPr>
          <p:cNvSpPr>
            <a:spLocks noGrp="1"/>
          </p:cNvSpPr>
          <p:nvPr>
            <p:ph type="dt" sz="half" idx="10"/>
          </p:nvPr>
        </p:nvSpPr>
        <p:spPr/>
        <p:txBody>
          <a:bodyPr/>
          <a:lstStyle/>
          <a:p>
            <a:pPr rtl="0"/>
            <a:fld id="{A95028CE-1BE9-409B-AC17-6C7A63024769}" type="datetime1">
              <a:rPr lang="fr-FR" noProof="0" smtClean="0"/>
              <a:t>28/02/2026</a:t>
            </a:fld>
            <a:endParaRPr lang="fr-FR" noProof="0"/>
          </a:p>
        </p:txBody>
      </p:sp>
      <p:sp>
        <p:nvSpPr>
          <p:cNvPr id="6" name="Espace réservé du pied de page 5">
            <a:extLst>
              <a:ext uri="{FF2B5EF4-FFF2-40B4-BE49-F238E27FC236}">
                <a16:creationId xmlns:a16="http://schemas.microsoft.com/office/drawing/2014/main" id="{F2064ED3-065B-324A-C567-893E79C28C4C}"/>
              </a:ext>
            </a:extLst>
          </p:cNvPr>
          <p:cNvSpPr>
            <a:spLocks noGrp="1"/>
          </p:cNvSpPr>
          <p:nvPr>
            <p:ph type="ftr" sz="quarter" idx="11"/>
          </p:nvPr>
        </p:nvSpPr>
        <p:spPr/>
        <p:txBody>
          <a:bodyPr/>
          <a:lstStyle/>
          <a:p>
            <a:pPr rtl="0"/>
            <a:r>
              <a:rPr lang="fr-FR" noProof="0"/>
              <a:t>Votre logo ici</a:t>
            </a:r>
          </a:p>
        </p:txBody>
      </p:sp>
      <p:sp>
        <p:nvSpPr>
          <p:cNvPr id="7" name="Espace réservé du numéro de diapositive 6">
            <a:extLst>
              <a:ext uri="{FF2B5EF4-FFF2-40B4-BE49-F238E27FC236}">
                <a16:creationId xmlns:a16="http://schemas.microsoft.com/office/drawing/2014/main" id="{73C2A23C-273B-4FD7-5547-5907CE5A960A}"/>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3775440381"/>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F40DE2-0CA1-F91C-3645-798ED1E8FE32}"/>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99AEC6EF-25A5-47AE-9D58-A457D116D8AD}"/>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603C310-DCA9-2A9A-38A4-63566EE7226D}"/>
              </a:ext>
            </a:extLst>
          </p:cNvPr>
          <p:cNvSpPr>
            <a:spLocks noGrp="1"/>
          </p:cNvSpPr>
          <p:nvPr>
            <p:ph type="dt" sz="half" idx="10"/>
          </p:nvPr>
        </p:nvSpPr>
        <p:spPr/>
        <p:txBody>
          <a:bodyPr/>
          <a:lstStyle/>
          <a:p>
            <a:pPr rtl="0"/>
            <a:fld id="{A95028CE-1BE9-409B-AC17-6C7A63024769}" type="datetime1">
              <a:rPr lang="fr-FR" noProof="0" smtClean="0"/>
              <a:t>28/02/2026</a:t>
            </a:fld>
            <a:endParaRPr lang="fr-FR" noProof="0"/>
          </a:p>
        </p:txBody>
      </p:sp>
      <p:sp>
        <p:nvSpPr>
          <p:cNvPr id="5" name="Espace réservé du pied de page 4">
            <a:extLst>
              <a:ext uri="{FF2B5EF4-FFF2-40B4-BE49-F238E27FC236}">
                <a16:creationId xmlns:a16="http://schemas.microsoft.com/office/drawing/2014/main" id="{2FCE880B-A2C1-0200-2E5B-BE471F2F581F}"/>
              </a:ext>
            </a:extLst>
          </p:cNvPr>
          <p:cNvSpPr>
            <a:spLocks noGrp="1"/>
          </p:cNvSpPr>
          <p:nvPr>
            <p:ph type="ftr" sz="quarter" idx="11"/>
          </p:nvPr>
        </p:nvSpPr>
        <p:spPr/>
        <p:txBody>
          <a:bodyPr/>
          <a:lstStyle/>
          <a:p>
            <a:pPr rtl="0"/>
            <a:r>
              <a:rPr lang="fr-FR" noProof="0"/>
              <a:t>Votre logo ici</a:t>
            </a:r>
          </a:p>
        </p:txBody>
      </p:sp>
      <p:sp>
        <p:nvSpPr>
          <p:cNvPr id="6" name="Espace réservé du numéro de diapositive 5">
            <a:extLst>
              <a:ext uri="{FF2B5EF4-FFF2-40B4-BE49-F238E27FC236}">
                <a16:creationId xmlns:a16="http://schemas.microsoft.com/office/drawing/2014/main" id="{F5EA3A1A-0E4C-53CE-6CC5-0E9238F1A257}"/>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129528912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5D4BF43-1182-8480-94F5-B8BB508AD280}"/>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7EEC60D-FDAA-5A8F-3031-BE819A1A935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52CC095-2557-4505-1DAC-EABDBFFD4217}"/>
              </a:ext>
            </a:extLst>
          </p:cNvPr>
          <p:cNvSpPr>
            <a:spLocks noGrp="1"/>
          </p:cNvSpPr>
          <p:nvPr>
            <p:ph type="dt" sz="half" idx="10"/>
          </p:nvPr>
        </p:nvSpPr>
        <p:spPr/>
        <p:txBody>
          <a:bodyPr/>
          <a:lstStyle/>
          <a:p>
            <a:pPr rtl="0"/>
            <a:fld id="{A95028CE-1BE9-409B-AC17-6C7A63024769}" type="datetime1">
              <a:rPr lang="fr-FR" noProof="0" smtClean="0"/>
              <a:t>28/02/2026</a:t>
            </a:fld>
            <a:endParaRPr lang="fr-FR" noProof="0"/>
          </a:p>
        </p:txBody>
      </p:sp>
      <p:sp>
        <p:nvSpPr>
          <p:cNvPr id="5" name="Espace réservé du pied de page 4">
            <a:extLst>
              <a:ext uri="{FF2B5EF4-FFF2-40B4-BE49-F238E27FC236}">
                <a16:creationId xmlns:a16="http://schemas.microsoft.com/office/drawing/2014/main" id="{BEA3A421-59AB-F84D-5417-C13D1C43376B}"/>
              </a:ext>
            </a:extLst>
          </p:cNvPr>
          <p:cNvSpPr>
            <a:spLocks noGrp="1"/>
          </p:cNvSpPr>
          <p:nvPr>
            <p:ph type="ftr" sz="quarter" idx="11"/>
          </p:nvPr>
        </p:nvSpPr>
        <p:spPr/>
        <p:txBody>
          <a:bodyPr/>
          <a:lstStyle/>
          <a:p>
            <a:pPr rtl="0"/>
            <a:r>
              <a:rPr lang="fr-FR" noProof="0"/>
              <a:t>Votre logo ici</a:t>
            </a:r>
          </a:p>
        </p:txBody>
      </p:sp>
      <p:sp>
        <p:nvSpPr>
          <p:cNvPr id="6" name="Espace réservé du numéro de diapositive 5">
            <a:extLst>
              <a:ext uri="{FF2B5EF4-FFF2-40B4-BE49-F238E27FC236}">
                <a16:creationId xmlns:a16="http://schemas.microsoft.com/office/drawing/2014/main" id="{77798EBF-6C6F-1369-2787-5B4E12C4D37E}"/>
              </a:ext>
            </a:extLst>
          </p:cNvPr>
          <p:cNvSpPr>
            <a:spLocks noGrp="1"/>
          </p:cNvSpPr>
          <p:nvPr>
            <p:ph type="sldNum" sz="quarter" idx="12"/>
          </p:nvPr>
        </p:nvSpPr>
        <p:spPr/>
        <p:txBody>
          <a:body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2999797324"/>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EEAFDA-8451-3BAC-7AF3-7977FC95CA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79295E81-D526-AFB7-D62F-9FE5630458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17F68AB-9641-5DDF-7B7A-606F284918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A95028CE-1BE9-409B-AC17-6C7A63024769}" type="datetime1">
              <a:rPr lang="fr-FR" noProof="0" smtClean="0"/>
              <a:t>28/02/2026</a:t>
            </a:fld>
            <a:endParaRPr lang="fr-FR" noProof="0"/>
          </a:p>
        </p:txBody>
      </p:sp>
      <p:sp>
        <p:nvSpPr>
          <p:cNvPr id="5" name="Espace réservé du pied de page 4">
            <a:extLst>
              <a:ext uri="{FF2B5EF4-FFF2-40B4-BE49-F238E27FC236}">
                <a16:creationId xmlns:a16="http://schemas.microsoft.com/office/drawing/2014/main" id="{CFB7FCEC-B6E0-F6B8-ADBF-1C756E0607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r>
              <a:rPr lang="fr-FR" noProof="0"/>
              <a:t>Votre logo ici</a:t>
            </a:r>
          </a:p>
        </p:txBody>
      </p:sp>
      <p:sp>
        <p:nvSpPr>
          <p:cNvPr id="6" name="Espace réservé du numéro de diapositive 5">
            <a:extLst>
              <a:ext uri="{FF2B5EF4-FFF2-40B4-BE49-F238E27FC236}">
                <a16:creationId xmlns:a16="http://schemas.microsoft.com/office/drawing/2014/main" id="{3C6AF2A7-4893-7C16-1193-E60B978CA6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0FD50806-BABF-4915-9689-3B9956D1C75C}" type="slidenum">
              <a:rPr lang="fr-FR" noProof="0" smtClean="0"/>
              <a:t>‹N°›</a:t>
            </a:fld>
            <a:endParaRPr lang="fr-FR" noProof="0"/>
          </a:p>
        </p:txBody>
      </p:sp>
    </p:spTree>
    <p:extLst>
      <p:ext uri="{BB962C8B-B14F-4D97-AF65-F5344CB8AC3E}">
        <p14:creationId xmlns:p14="http://schemas.microsoft.com/office/powerpoint/2010/main" val="154520383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 Coins arrondis 15">
            <a:extLst>
              <a:ext uri="{FF2B5EF4-FFF2-40B4-BE49-F238E27FC236}">
                <a16:creationId xmlns:a16="http://schemas.microsoft.com/office/drawing/2014/main" id="{4E70207C-E81D-4E79-9654-07E51237BC3C}"/>
              </a:ext>
              <a:ext uri="{C183D7F6-B498-43B3-948B-1728B52AA6E4}">
                <adec:decorative xmlns:adec="http://schemas.microsoft.com/office/drawing/2017/decorative" val="1"/>
              </a:ext>
            </a:extLst>
          </p:cNvPr>
          <p:cNvSpPr/>
          <p:nvPr/>
        </p:nvSpPr>
        <p:spPr>
          <a:xfrm rot="18900000">
            <a:off x="9999285" y="328273"/>
            <a:ext cx="1585044" cy="1585044"/>
          </a:xfrm>
          <a:prstGeom prst="roundRect">
            <a:avLst>
              <a:gd name="adj" fmla="val 11080"/>
            </a:avLst>
          </a:prstGeom>
          <a:solidFill>
            <a:srgbClr val="002060"/>
          </a:solidFill>
          <a:ln/>
        </p:spPr>
        <p:style>
          <a:lnRef idx="0">
            <a:schemeClr val="accent5"/>
          </a:lnRef>
          <a:fillRef idx="3">
            <a:schemeClr val="accent5"/>
          </a:fillRef>
          <a:effectRef idx="3">
            <a:schemeClr val="accent5"/>
          </a:effectRef>
          <a:fontRef idx="minor">
            <a:schemeClr val="lt1"/>
          </a:fontRef>
        </p:style>
        <p:txBody>
          <a:bodyPr rtlCol="0" anchor="ctr"/>
          <a:lstStyle/>
          <a:p>
            <a:pPr algn="ctr" rtl="0"/>
            <a:endParaRPr lang="fr-FR"/>
          </a:p>
        </p:txBody>
      </p:sp>
      <p:grpSp>
        <p:nvGrpSpPr>
          <p:cNvPr id="5" name="Groupe 4">
            <a:extLst>
              <a:ext uri="{FF2B5EF4-FFF2-40B4-BE49-F238E27FC236}">
                <a16:creationId xmlns:a16="http://schemas.microsoft.com/office/drawing/2014/main" id="{2907CD1A-2477-48CA-8693-2133EA1C329A}"/>
              </a:ext>
              <a:ext uri="{C183D7F6-B498-43B3-948B-1728B52AA6E4}">
                <adec:decorative xmlns:adec="http://schemas.microsoft.com/office/drawing/2017/decorative" val="1"/>
              </a:ext>
            </a:extLst>
          </p:cNvPr>
          <p:cNvGrpSpPr/>
          <p:nvPr/>
        </p:nvGrpSpPr>
        <p:grpSpPr>
          <a:xfrm>
            <a:off x="3649134" y="1120795"/>
            <a:ext cx="4343400" cy="4804176"/>
            <a:chOff x="4167698" y="1500698"/>
            <a:chExt cx="3856603" cy="4409819"/>
          </a:xfrm>
        </p:grpSpPr>
        <p:sp>
          <p:nvSpPr>
            <p:cNvPr id="12" name="Rectangle : Coins arrondis 11">
              <a:extLst>
                <a:ext uri="{FF2B5EF4-FFF2-40B4-BE49-F238E27FC236}">
                  <a16:creationId xmlns:a16="http://schemas.microsoft.com/office/drawing/2014/main" id="{485D1319-7BD4-47DE-B3DF-55B655BB34C4}"/>
                </a:ext>
              </a:extLst>
            </p:cNvPr>
            <p:cNvSpPr/>
            <p:nvPr/>
          </p:nvSpPr>
          <p:spPr>
            <a:xfrm rot="18900000">
              <a:off x="4167698" y="1500698"/>
              <a:ext cx="3856602" cy="3856602"/>
            </a:xfrm>
            <a:prstGeom prst="roundRect">
              <a:avLst>
                <a:gd name="adj" fmla="val 11080"/>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rtl="0"/>
              <a:endParaRPr lang="fr-FR"/>
            </a:p>
          </p:txBody>
        </p:sp>
        <p:sp>
          <p:nvSpPr>
            <p:cNvPr id="20" name="Rectangle : Coins arrondis 19">
              <a:extLst>
                <a:ext uri="{FF2B5EF4-FFF2-40B4-BE49-F238E27FC236}">
                  <a16:creationId xmlns:a16="http://schemas.microsoft.com/office/drawing/2014/main" id="{3A6B26EE-CB0C-4C1C-981C-B7972827533E}"/>
                </a:ext>
              </a:extLst>
            </p:cNvPr>
            <p:cNvSpPr/>
            <p:nvPr/>
          </p:nvSpPr>
          <p:spPr>
            <a:xfrm rot="18900000">
              <a:off x="4167699" y="2053915"/>
              <a:ext cx="3856602" cy="3856602"/>
            </a:xfrm>
            <a:prstGeom prst="roundRect">
              <a:avLst>
                <a:gd name="adj" fmla="val 11080"/>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rtl="0"/>
              <a:endParaRPr lang="fr-FR"/>
            </a:p>
          </p:txBody>
        </p:sp>
      </p:grpSp>
      <p:sp>
        <p:nvSpPr>
          <p:cNvPr id="28" name="Forme libre : Forme 27">
            <a:extLst>
              <a:ext uri="{FF2B5EF4-FFF2-40B4-BE49-F238E27FC236}">
                <a16:creationId xmlns:a16="http://schemas.microsoft.com/office/drawing/2014/main" id="{9BCCD400-5AC0-46BA-AF0D-532EA062DDFE}"/>
              </a:ext>
              <a:ext uri="{C183D7F6-B498-43B3-948B-1728B52AA6E4}">
                <adec:decorative xmlns:adec="http://schemas.microsoft.com/office/drawing/2017/decorative" val="1"/>
              </a:ext>
            </a:extLst>
          </p:cNvPr>
          <p:cNvSpPr/>
          <p:nvPr/>
        </p:nvSpPr>
        <p:spPr>
          <a:xfrm>
            <a:off x="0" y="0"/>
            <a:ext cx="2739184" cy="2840643"/>
          </a:xfrm>
          <a:custGeom>
            <a:avLst/>
            <a:gdLst>
              <a:gd name="connsiteX0" fmla="*/ 0 w 2739184"/>
              <a:gd name="connsiteY0" fmla="*/ 0 h 2840643"/>
              <a:gd name="connsiteX1" fmla="*/ 2501897 w 2739184"/>
              <a:gd name="connsiteY1" fmla="*/ 0 h 2840643"/>
              <a:gd name="connsiteX2" fmla="*/ 2619703 w 2739184"/>
              <a:gd name="connsiteY2" fmla="*/ 117806 h 2840643"/>
              <a:gd name="connsiteX3" fmla="*/ 2619703 w 2739184"/>
              <a:gd name="connsiteY3" fmla="*/ 694710 h 2840643"/>
              <a:gd name="connsiteX4" fmla="*/ 593251 w 2739184"/>
              <a:gd name="connsiteY4" fmla="*/ 2721162 h 2840643"/>
              <a:gd name="connsiteX5" fmla="*/ 16347 w 2739184"/>
              <a:gd name="connsiteY5" fmla="*/ 2721162 h 2840643"/>
              <a:gd name="connsiteX6" fmla="*/ 0 w 2739184"/>
              <a:gd name="connsiteY6" fmla="*/ 2704815 h 2840643"/>
              <a:gd name="connsiteX7" fmla="*/ 0 w 2739184"/>
              <a:gd name="connsiteY7" fmla="*/ 0 h 28406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39184" h="2840643">
                <a:moveTo>
                  <a:pt x="0" y="0"/>
                </a:moveTo>
                <a:lnTo>
                  <a:pt x="2501897" y="0"/>
                </a:lnTo>
                <a:lnTo>
                  <a:pt x="2619703" y="117806"/>
                </a:lnTo>
                <a:cubicBezTo>
                  <a:pt x="2779011" y="277113"/>
                  <a:pt x="2779011" y="535403"/>
                  <a:pt x="2619703" y="694710"/>
                </a:cubicBezTo>
                <a:lnTo>
                  <a:pt x="593251" y="2721162"/>
                </a:lnTo>
                <a:cubicBezTo>
                  <a:pt x="433944" y="2880470"/>
                  <a:pt x="175654" y="2880470"/>
                  <a:pt x="16347" y="2721162"/>
                </a:cubicBezTo>
                <a:lnTo>
                  <a:pt x="0" y="2704815"/>
                </a:lnTo>
                <a:lnTo>
                  <a:pt x="0" y="0"/>
                </a:lnTo>
                <a:close/>
              </a:path>
            </a:pathLst>
          </a:custGeom>
          <a:solidFill>
            <a:schemeClr val="accent5">
              <a:lumMod val="50000"/>
            </a:schemeClr>
          </a:solidFill>
          <a:ln/>
        </p:spPr>
        <p:style>
          <a:lnRef idx="1">
            <a:schemeClr val="accent5"/>
          </a:lnRef>
          <a:fillRef idx="3">
            <a:schemeClr val="accent5"/>
          </a:fillRef>
          <a:effectRef idx="2">
            <a:schemeClr val="accent5"/>
          </a:effectRef>
          <a:fontRef idx="minor">
            <a:schemeClr val="lt1"/>
          </a:fontRef>
        </p:style>
        <p:txBody>
          <a:bodyPr rtlCol="0" anchor="ctr"/>
          <a:lstStyle/>
          <a:p>
            <a:pPr algn="ctr" rtl="0"/>
            <a:endParaRPr lang="fr-FR"/>
          </a:p>
        </p:txBody>
      </p:sp>
      <p:sp>
        <p:nvSpPr>
          <p:cNvPr id="2" name="Titre 1" hidden="1">
            <a:extLst>
              <a:ext uri="{FF2B5EF4-FFF2-40B4-BE49-F238E27FC236}">
                <a16:creationId xmlns:a16="http://schemas.microsoft.com/office/drawing/2014/main" id="{020D1C37-27ED-4160-AE67-E6F23CD58E73}"/>
              </a:ext>
            </a:extLst>
          </p:cNvPr>
          <p:cNvSpPr>
            <a:spLocks noGrp="1"/>
          </p:cNvSpPr>
          <p:nvPr>
            <p:ph type="title"/>
          </p:nvPr>
        </p:nvSpPr>
        <p:spPr/>
        <p:txBody>
          <a:bodyPr rtlCol="0"/>
          <a:lstStyle/>
          <a:p>
            <a:pPr rtl="0"/>
            <a:r>
              <a:rPr lang="fr" dirty="0"/>
              <a:t>Diapositive 1</a:t>
            </a:r>
          </a:p>
        </p:txBody>
      </p:sp>
      <p:sp>
        <p:nvSpPr>
          <p:cNvPr id="6" name="ZoneTexte 5">
            <a:extLst>
              <a:ext uri="{FF2B5EF4-FFF2-40B4-BE49-F238E27FC236}">
                <a16:creationId xmlns:a16="http://schemas.microsoft.com/office/drawing/2014/main" id="{F9F5DDE1-3487-0CDC-2C43-BA7E791DB6EB}"/>
              </a:ext>
            </a:extLst>
          </p:cNvPr>
          <p:cNvSpPr txBox="1"/>
          <p:nvPr/>
        </p:nvSpPr>
        <p:spPr>
          <a:xfrm>
            <a:off x="3619499" y="1843950"/>
            <a:ext cx="4402667" cy="3170099"/>
          </a:xfrm>
          <a:prstGeom prst="rect">
            <a:avLst/>
          </a:prstGeom>
          <a:noFill/>
        </p:spPr>
        <p:txBody>
          <a:bodyPr wrap="square">
            <a:spAutoFit/>
          </a:bodyPr>
          <a:lstStyle/>
          <a:p>
            <a:pPr algn="ctr"/>
            <a:r>
              <a:rPr lang="fr-FR" sz="4000" b="1" spc="50" dirty="0">
                <a:ln w="9525" cmpd="sng">
                  <a:solidFill>
                    <a:schemeClr val="accent1"/>
                  </a:solidFill>
                  <a:prstDash val="solid"/>
                </a:ln>
                <a:solidFill>
                  <a:srgbClr val="70AD47">
                    <a:tint val="1000"/>
                  </a:srgbClr>
                </a:solidFill>
                <a:effectLst>
                  <a:glow rad="38100">
                    <a:schemeClr val="accent1">
                      <a:alpha val="40000"/>
                    </a:schemeClr>
                  </a:glow>
                </a:effectLst>
                <a:latin typeface="Arial Rounded MT Bold" panose="020F0704030504030204" pitchFamily="34" charset="0"/>
              </a:rPr>
              <a:t>Situation financière du l’OCP JFC d’exercices</a:t>
            </a:r>
            <a:br>
              <a:rPr lang="fr-FR" sz="4000" b="1" spc="50" dirty="0">
                <a:ln w="9525" cmpd="sng">
                  <a:solidFill>
                    <a:schemeClr val="accent1"/>
                  </a:solidFill>
                  <a:prstDash val="solid"/>
                </a:ln>
                <a:solidFill>
                  <a:srgbClr val="70AD47">
                    <a:tint val="1000"/>
                  </a:srgbClr>
                </a:solidFill>
                <a:effectLst>
                  <a:glow rad="38100">
                    <a:schemeClr val="accent1">
                      <a:alpha val="40000"/>
                    </a:schemeClr>
                  </a:glow>
                </a:effectLst>
                <a:latin typeface="Arial Rounded MT Bold" panose="020F0704030504030204" pitchFamily="34" charset="0"/>
              </a:rPr>
            </a:br>
            <a:r>
              <a:rPr lang="fr-FR" sz="4000" b="1" spc="50" dirty="0">
                <a:ln w="9525" cmpd="sng">
                  <a:solidFill>
                    <a:schemeClr val="accent1"/>
                  </a:solidFill>
                  <a:prstDash val="solid"/>
                </a:ln>
                <a:solidFill>
                  <a:srgbClr val="70AD47">
                    <a:tint val="1000"/>
                  </a:srgbClr>
                </a:solidFill>
                <a:effectLst>
                  <a:glow rad="38100">
                    <a:schemeClr val="accent1">
                      <a:alpha val="40000"/>
                    </a:schemeClr>
                  </a:glow>
                </a:effectLst>
                <a:latin typeface="Arial Rounded MT Bold" panose="020F0704030504030204" pitchFamily="34" charset="0"/>
              </a:rPr>
              <a:t>2023/2024/2025</a:t>
            </a:r>
          </a:p>
        </p:txBody>
      </p:sp>
      <p:sp>
        <p:nvSpPr>
          <p:cNvPr id="15" name="ZoneTexte 14">
            <a:extLst>
              <a:ext uri="{FF2B5EF4-FFF2-40B4-BE49-F238E27FC236}">
                <a16:creationId xmlns:a16="http://schemas.microsoft.com/office/drawing/2014/main" id="{8E07CA4E-B906-BF10-DDA2-35BA11AD24D3}"/>
              </a:ext>
            </a:extLst>
          </p:cNvPr>
          <p:cNvSpPr txBox="1"/>
          <p:nvPr/>
        </p:nvSpPr>
        <p:spPr>
          <a:xfrm>
            <a:off x="8841907" y="5574461"/>
            <a:ext cx="4250267" cy="830997"/>
          </a:xfrm>
          <a:prstGeom prst="rect">
            <a:avLst/>
          </a:prstGeom>
          <a:noFill/>
        </p:spPr>
        <p:txBody>
          <a:bodyPr wrap="square">
            <a:spAutoFit/>
          </a:bodyPr>
          <a:lstStyle/>
          <a:p>
            <a:r>
              <a:rPr lang="fr-FR" sz="2400" b="1" dirty="0">
                <a:solidFill>
                  <a:srgbClr val="002060"/>
                </a:solidFill>
              </a:rPr>
              <a:t>Réalisé par : </a:t>
            </a:r>
          </a:p>
          <a:p>
            <a:r>
              <a:rPr lang="fr-FR" sz="2400" b="1" dirty="0">
                <a:solidFill>
                  <a:srgbClr val="002060"/>
                </a:solidFill>
              </a:rPr>
              <a:t>NOUHAILA EN-NAIDI</a:t>
            </a:r>
          </a:p>
        </p:txBody>
      </p:sp>
    </p:spTree>
    <p:extLst>
      <p:ext uri="{BB962C8B-B14F-4D97-AF65-F5344CB8AC3E}">
        <p14:creationId xmlns:p14="http://schemas.microsoft.com/office/powerpoint/2010/main" val="3105940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EB0D3BA2-B43F-482A-8413-36C39E771401}"/>
              </a:ext>
              <a:ext uri="{C183D7F6-B498-43B3-948B-1728B52AA6E4}">
                <adec:decorative xmlns:adec="http://schemas.microsoft.com/office/drawing/2017/decorative" val="1"/>
              </a:ext>
            </a:extLst>
          </p:cNvPr>
          <p:cNvSpPr/>
          <p:nvPr/>
        </p:nvSpPr>
        <p:spPr>
          <a:xfrm>
            <a:off x="221182" y="1236094"/>
            <a:ext cx="5992991" cy="3117981"/>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rtl="0"/>
            <a:endParaRPr lang="fr-FR" dirty="0"/>
          </a:p>
        </p:txBody>
      </p:sp>
      <p:sp>
        <p:nvSpPr>
          <p:cNvPr id="111" name="Zone de texte 47">
            <a:extLst>
              <a:ext uri="{FF2B5EF4-FFF2-40B4-BE49-F238E27FC236}">
                <a16:creationId xmlns:a16="http://schemas.microsoft.com/office/drawing/2014/main" id="{853D56A8-B36E-4520-9327-AFD45439C181}"/>
              </a:ext>
            </a:extLst>
          </p:cNvPr>
          <p:cNvSpPr txBox="1"/>
          <p:nvPr/>
        </p:nvSpPr>
        <p:spPr>
          <a:xfrm>
            <a:off x="6579900" y="1231391"/>
            <a:ext cx="5205700" cy="5170646"/>
          </a:xfrm>
          <a:prstGeom prst="rect">
            <a:avLst/>
          </a:prstGeom>
          <a:noFill/>
          <a:ln w="6350">
            <a:noFill/>
            <a:prstDash val="dash"/>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400" dirty="0"/>
              <a:t>En 2023, le Fonds de Roulement Financier (FRF) est négatif : cela veut dire que l’entreprise n’a pas assez de ressources stables pour financer ses investissements à long terme. Mais dans le même temps, le Besoin en Fonds de Roulement Global (BFRG) est aussi négatif, ce qui est plutôt positif : l’OCP encaisse l’argent de ses clients avant de payer ses fournisseurs, ce qui réduit ses besoins de trésorerie immédiats.</a:t>
            </a:r>
          </a:p>
          <a:p>
            <a:endParaRPr lang="fr-FR" sz="1400" dirty="0"/>
          </a:p>
          <a:p>
            <a:r>
              <a:rPr lang="fr-FR" sz="1400" dirty="0"/>
              <a:t>À partir de 2024, le FRF devient positif et progresse encore en 2025, montrant un renforcement des ressources durables de l’entreprise. De son côté, le BFRG devient positif en 2024 et 2025. Cela peut s’expliquer par une hausse de l’activité ou une gestion plus active des stocks et des créances. Certes, un BFRG positif signifie que l’entreprise a plus de besoins à court terme, mais cela peut être le signe d’une croissance des ventes, ce qui est plutôt favorable.</a:t>
            </a:r>
          </a:p>
          <a:p>
            <a:endParaRPr lang="fr-FR" sz="1400" dirty="0"/>
          </a:p>
          <a:p>
            <a:r>
              <a:rPr lang="fr-FR" sz="1400" dirty="0"/>
              <a:t>La Trésorerie Nette (TN) reste positive tout au long de la période et augmente progressivement, preuve que l’entreprise garde une bonne santé financière à court terme.</a:t>
            </a:r>
          </a:p>
          <a:p>
            <a:endParaRPr lang="fr-FR" sz="1400" dirty="0"/>
          </a:p>
          <a:p>
            <a:r>
              <a:rPr lang="fr-FR" sz="1400" dirty="0"/>
              <a:t>Enfin, l’Excédent Brut d’Exploitation (EBE) confirme l’amélioration de la performance : après un niveau modeste en 2023, il double en 2024 et se maintient à un niveau élevé en 2025. Cela montre que l’OCP génère suffisamment de richesse pour financer son activité et sa croissance de manière autonome.</a:t>
            </a:r>
          </a:p>
        </p:txBody>
      </p:sp>
      <p:sp>
        <p:nvSpPr>
          <p:cNvPr id="75" name="Rectangle : Coins arrondis 74">
            <a:extLst>
              <a:ext uri="{FF2B5EF4-FFF2-40B4-BE49-F238E27FC236}">
                <a16:creationId xmlns:a16="http://schemas.microsoft.com/office/drawing/2014/main" id="{527B1B3A-4567-4AE9-A7C9-FA9D5A1F3929}"/>
              </a:ext>
            </a:extLst>
          </p:cNvPr>
          <p:cNvSpPr/>
          <p:nvPr/>
        </p:nvSpPr>
        <p:spPr>
          <a:xfrm>
            <a:off x="1296128" y="989872"/>
            <a:ext cx="3952875" cy="492443"/>
          </a:xfrm>
          <a:prstGeom prst="roundRect">
            <a:avLst>
              <a:gd name="adj" fmla="val 50000"/>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defRPr sz="1400" b="0" i="0" u="none" strike="noStrike" kern="1200" spc="0" baseline="0">
                <a:solidFill>
                  <a:prstClr val="black">
                    <a:lumMod val="65000"/>
                    <a:lumOff val="35000"/>
                  </a:prstClr>
                </a:solidFill>
                <a:latin typeface="+mn-lt"/>
                <a:ea typeface="+mn-ea"/>
                <a:cs typeface="+mn-cs"/>
              </a:defRPr>
            </a:pPr>
            <a:r>
              <a:rPr lang="fr-FR" sz="1600" b="1" spc="50" dirty="0">
                <a:ln w="0"/>
                <a:solidFill>
                  <a:schemeClr val="bg2"/>
                </a:solidFill>
                <a:effectLst>
                  <a:innerShdw blurRad="63500" dist="50800" dir="13500000">
                    <a:srgbClr val="000000">
                      <a:alpha val="50000"/>
                    </a:srgbClr>
                  </a:innerShdw>
                </a:effectLst>
              </a:rPr>
              <a:t>Équilibre financier (2023–2025)</a:t>
            </a:r>
          </a:p>
        </p:txBody>
      </p:sp>
      <p:sp>
        <p:nvSpPr>
          <p:cNvPr id="122" name="Ovale 121">
            <a:extLst>
              <a:ext uri="{FF2B5EF4-FFF2-40B4-BE49-F238E27FC236}">
                <a16:creationId xmlns:a16="http://schemas.microsoft.com/office/drawing/2014/main" id="{922831E1-31DF-4125-9BCB-8937CAE543E1}"/>
              </a:ext>
              <a:ext uri="{C183D7F6-B498-43B3-948B-1728B52AA6E4}">
                <adec:decorative xmlns:adec="http://schemas.microsoft.com/office/drawing/2017/decorative" val="1"/>
              </a:ext>
            </a:extLst>
          </p:cNvPr>
          <p:cNvSpPr/>
          <p:nvPr/>
        </p:nvSpPr>
        <p:spPr>
          <a:xfrm>
            <a:off x="1353509" y="1038509"/>
            <a:ext cx="385764" cy="3857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nvGrpSpPr>
          <p:cNvPr id="123" name="Groupe 122" descr="Ceci est une icône représentant un graphique à barres et un graphique en courbes. ">
            <a:extLst>
              <a:ext uri="{FF2B5EF4-FFF2-40B4-BE49-F238E27FC236}">
                <a16:creationId xmlns:a16="http://schemas.microsoft.com/office/drawing/2014/main" id="{08F666DF-6069-4309-98CB-67441794E384}"/>
              </a:ext>
            </a:extLst>
          </p:cNvPr>
          <p:cNvGrpSpPr/>
          <p:nvPr/>
        </p:nvGrpSpPr>
        <p:grpSpPr>
          <a:xfrm>
            <a:off x="1448264" y="1133264"/>
            <a:ext cx="196255" cy="196255"/>
            <a:chOff x="4319588" y="2492375"/>
            <a:chExt cx="287338" cy="287338"/>
          </a:xfrm>
          <a:solidFill>
            <a:srgbClr val="CE295E"/>
          </a:solidFill>
        </p:grpSpPr>
        <p:sp>
          <p:nvSpPr>
            <p:cNvPr id="124" name="Forme libre 372">
              <a:extLst>
                <a:ext uri="{FF2B5EF4-FFF2-40B4-BE49-F238E27FC236}">
                  <a16:creationId xmlns:a16="http://schemas.microsoft.com/office/drawing/2014/main" id="{CC6C2715-550E-40A0-AB0F-10386CBA9367}"/>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rtl="0"/>
              <a:endParaRPr lang="fr-FR" dirty="0"/>
            </a:p>
          </p:txBody>
        </p:sp>
        <p:sp>
          <p:nvSpPr>
            <p:cNvPr id="125" name="Forme libre 373">
              <a:extLst>
                <a:ext uri="{FF2B5EF4-FFF2-40B4-BE49-F238E27FC236}">
                  <a16:creationId xmlns:a16="http://schemas.microsoft.com/office/drawing/2014/main" id="{F7218EF6-60ED-4D4C-9831-CF6B6BB7D9AA}"/>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rtl="0"/>
              <a:endParaRPr lang="fr-FR" dirty="0"/>
            </a:p>
          </p:txBody>
        </p:sp>
      </p:grpSp>
      <p:sp>
        <p:nvSpPr>
          <p:cNvPr id="130" name="Espace réservé du numéro de diapositive 129">
            <a:extLst>
              <a:ext uri="{FF2B5EF4-FFF2-40B4-BE49-F238E27FC236}">
                <a16:creationId xmlns:a16="http://schemas.microsoft.com/office/drawing/2014/main" id="{6B37FA8E-54BF-4AF0-BF0C-916033E8ADE5}"/>
              </a:ext>
            </a:extLst>
          </p:cNvPr>
          <p:cNvSpPr>
            <a:spLocks noGrp="1"/>
          </p:cNvSpPr>
          <p:nvPr>
            <p:ph type="sldNum" sz="quarter" idx="12"/>
          </p:nvPr>
        </p:nvSpPr>
        <p:spPr>
          <a:xfrm>
            <a:off x="11706225" y="590303"/>
            <a:ext cx="419100" cy="365125"/>
          </a:xfrm>
        </p:spPr>
        <p:txBody>
          <a:bodyPr rtlCol="0"/>
          <a:lstStyle/>
          <a:p>
            <a:pPr rtl="0"/>
            <a:fld id="{0FD50806-BABF-4915-9689-3B9956D1C75C}" type="slidenum">
              <a:rPr lang="fr-FR" smtClean="0"/>
              <a:pPr/>
              <a:t>2</a:t>
            </a:fld>
            <a:endParaRPr lang="fr-FR" dirty="0"/>
          </a:p>
        </p:txBody>
      </p:sp>
      <p:graphicFrame>
        <p:nvGraphicFramePr>
          <p:cNvPr id="3" name="Tableau 2">
            <a:extLst>
              <a:ext uri="{FF2B5EF4-FFF2-40B4-BE49-F238E27FC236}">
                <a16:creationId xmlns:a16="http://schemas.microsoft.com/office/drawing/2014/main" id="{42E166E8-FB53-D9E4-A93B-E9652B080C55}"/>
              </a:ext>
            </a:extLst>
          </p:cNvPr>
          <p:cNvGraphicFramePr>
            <a:graphicFrameLocks noGrp="1"/>
          </p:cNvGraphicFramePr>
          <p:nvPr>
            <p:extLst>
              <p:ext uri="{D42A27DB-BD31-4B8C-83A1-F6EECF244321}">
                <p14:modId xmlns:p14="http://schemas.microsoft.com/office/powerpoint/2010/main" val="2364709171"/>
              </p:ext>
            </p:extLst>
          </p:nvPr>
        </p:nvGraphicFramePr>
        <p:xfrm>
          <a:off x="269015" y="4700829"/>
          <a:ext cx="6007100" cy="1610269"/>
        </p:xfrm>
        <a:graphic>
          <a:graphicData uri="http://schemas.openxmlformats.org/drawingml/2006/table">
            <a:tbl>
              <a:tblPr/>
              <a:tblGrid>
                <a:gridCol w="1117600">
                  <a:extLst>
                    <a:ext uri="{9D8B030D-6E8A-4147-A177-3AD203B41FA5}">
                      <a16:colId xmlns:a16="http://schemas.microsoft.com/office/drawing/2014/main" val="1572210918"/>
                    </a:ext>
                  </a:extLst>
                </a:gridCol>
                <a:gridCol w="1397000">
                  <a:extLst>
                    <a:ext uri="{9D8B030D-6E8A-4147-A177-3AD203B41FA5}">
                      <a16:colId xmlns:a16="http://schemas.microsoft.com/office/drawing/2014/main" val="319977780"/>
                    </a:ext>
                  </a:extLst>
                </a:gridCol>
                <a:gridCol w="1193800">
                  <a:extLst>
                    <a:ext uri="{9D8B030D-6E8A-4147-A177-3AD203B41FA5}">
                      <a16:colId xmlns:a16="http://schemas.microsoft.com/office/drawing/2014/main" val="1209004901"/>
                    </a:ext>
                  </a:extLst>
                </a:gridCol>
                <a:gridCol w="1257300">
                  <a:extLst>
                    <a:ext uri="{9D8B030D-6E8A-4147-A177-3AD203B41FA5}">
                      <a16:colId xmlns:a16="http://schemas.microsoft.com/office/drawing/2014/main" val="2919707333"/>
                    </a:ext>
                  </a:extLst>
                </a:gridCol>
                <a:gridCol w="1041400">
                  <a:extLst>
                    <a:ext uri="{9D8B030D-6E8A-4147-A177-3AD203B41FA5}">
                      <a16:colId xmlns:a16="http://schemas.microsoft.com/office/drawing/2014/main" val="3553426994"/>
                    </a:ext>
                  </a:extLst>
                </a:gridCol>
              </a:tblGrid>
              <a:tr h="342809">
                <a:tc>
                  <a:txBody>
                    <a:bodyPr/>
                    <a:lstStyle/>
                    <a:p>
                      <a:pPr algn="ctr" fontAlgn="ctr">
                        <a:buNone/>
                      </a:pPr>
                      <a:r>
                        <a:rPr lang="fr-FR" sz="1100" b="0" i="0" u="none" strike="noStrike" dirty="0">
                          <a:solidFill>
                            <a:srgbClr val="FFFFFF"/>
                          </a:solidFill>
                          <a:effectLst/>
                          <a:latin typeface="Calibri" panose="020F0502020204030204" pitchFamily="34" charset="0"/>
                        </a:rPr>
                        <a:t>Indicateurs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dirty="0">
                          <a:solidFill>
                            <a:srgbClr val="FFFFFF"/>
                          </a:solidFill>
                          <a:effectLst/>
                          <a:latin typeface="Calibri" panose="020F0502020204030204" pitchFamily="34" charset="0"/>
                        </a:rPr>
                        <a:t>Formules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2023</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2024</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extLst>
                  <a:ext uri="{0D108BD9-81ED-4DB2-BD59-A6C34878D82A}">
                    <a16:rowId xmlns:a16="http://schemas.microsoft.com/office/drawing/2014/main" val="2311537613"/>
                  </a:ext>
                </a:extLst>
              </a:tr>
              <a:tr h="196850">
                <a:tc>
                  <a:txBody>
                    <a:bodyPr/>
                    <a:lstStyle/>
                    <a:p>
                      <a:pPr algn="ctr" fontAlgn="t">
                        <a:buNone/>
                      </a:pPr>
                      <a:r>
                        <a:rPr lang="fr-FR" sz="1100" b="0" i="0" u="none" strike="noStrike">
                          <a:solidFill>
                            <a:srgbClr val="FFFFFF"/>
                          </a:solidFill>
                          <a:effectLst/>
                          <a:latin typeface="Calibri" panose="020F0502020204030204" pitchFamily="34" charset="0"/>
                        </a:rPr>
                        <a:t>FRF</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t">
                        <a:buNone/>
                      </a:pPr>
                      <a:r>
                        <a:rPr lang="fr-FR" sz="1100" b="0" i="0" u="none" strike="noStrike">
                          <a:solidFill>
                            <a:srgbClr val="FFFFFF"/>
                          </a:solidFill>
                          <a:effectLst/>
                          <a:latin typeface="Calibri" panose="020F0502020204030204" pitchFamily="34" charset="0"/>
                        </a:rPr>
                        <a:t>(CP+DLMT) - Al</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t">
                        <a:buNone/>
                      </a:pPr>
                      <a:r>
                        <a:rPr lang="fr-FR" sz="1100" b="0" i="0" u="none" strike="noStrike">
                          <a:solidFill>
                            <a:srgbClr val="FFFFFF"/>
                          </a:solidFill>
                          <a:effectLst/>
                          <a:latin typeface="Calibri" panose="020F0502020204030204" pitchFamily="34" charset="0"/>
                        </a:rPr>
                        <a:t>-170419733,2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1177695530</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2 156 516 899,56</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4148564150"/>
                  </a:ext>
                </a:extLst>
              </a:tr>
              <a:tr h="196850">
                <a:tc>
                  <a:txBody>
                    <a:bodyPr/>
                    <a:lstStyle/>
                    <a:p>
                      <a:pPr algn="ctr" fontAlgn="t">
                        <a:buNone/>
                      </a:pPr>
                      <a:r>
                        <a:rPr lang="fr-FR" sz="1100" b="0" i="0" u="none" strike="noStrike">
                          <a:solidFill>
                            <a:srgbClr val="FFFFFF"/>
                          </a:solidFill>
                          <a:effectLst/>
                          <a:latin typeface="Calibri" panose="020F0502020204030204" pitchFamily="34" charset="0"/>
                        </a:rPr>
                        <a:t>BFRG</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t">
                        <a:buNone/>
                      </a:pPr>
                      <a:r>
                        <a:rPr lang="fr-FR" sz="1100" b="0" i="0" u="none" strike="noStrike">
                          <a:solidFill>
                            <a:srgbClr val="FFFFFF"/>
                          </a:solidFill>
                          <a:effectLst/>
                          <a:latin typeface="Calibri" panose="020F0502020204030204" pitchFamily="34" charset="0"/>
                        </a:rPr>
                        <a:t>AC HT - PC HT  </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t">
                        <a:buNone/>
                      </a:pPr>
                      <a:r>
                        <a:rPr lang="fr-FR" sz="1100" b="0" i="0" u="none" strike="noStrike">
                          <a:solidFill>
                            <a:srgbClr val="FFFFFF"/>
                          </a:solidFill>
                          <a:effectLst/>
                          <a:latin typeface="Calibri" panose="020F0502020204030204" pitchFamily="34" charset="0"/>
                        </a:rPr>
                        <a:t>-245773782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981196754,2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2 034 969 650,25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2207507430"/>
                  </a:ext>
                </a:extLst>
              </a:tr>
              <a:tr h="196850">
                <a:tc>
                  <a:txBody>
                    <a:bodyPr/>
                    <a:lstStyle/>
                    <a:p>
                      <a:pPr algn="ctr" fontAlgn="t">
                        <a:buNone/>
                      </a:pPr>
                      <a:r>
                        <a:rPr lang="fr-FR" sz="1100" b="0" i="0" u="none" strike="noStrike">
                          <a:solidFill>
                            <a:srgbClr val="FFFFFF"/>
                          </a:solidFill>
                          <a:effectLst/>
                          <a:latin typeface="Calibri" panose="020F0502020204030204" pitchFamily="34" charset="0"/>
                        </a:rPr>
                        <a:t>TN</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t">
                        <a:buNone/>
                      </a:pPr>
                      <a:r>
                        <a:rPr lang="fr-FR" sz="1100" b="0" i="0" u="none" strike="noStrike">
                          <a:solidFill>
                            <a:srgbClr val="FFFFFF"/>
                          </a:solidFill>
                          <a:effectLst/>
                          <a:latin typeface="Calibri" panose="020F0502020204030204" pitchFamily="34" charset="0"/>
                        </a:rPr>
                        <a:t>FRF - BFRG  </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t">
                        <a:buNone/>
                      </a:pPr>
                      <a:r>
                        <a:rPr lang="fr-FR" sz="1100" b="0" i="0" u="none" strike="noStrike" dirty="0">
                          <a:solidFill>
                            <a:srgbClr val="FFFFFF"/>
                          </a:solidFill>
                          <a:effectLst/>
                          <a:latin typeface="Calibri" panose="020F0502020204030204" pitchFamily="34" charset="0"/>
                        </a:rPr>
                        <a:t>75354048,74</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196498776,2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121 547 249,31</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3476220902"/>
                  </a:ext>
                </a:extLst>
              </a:tr>
              <a:tr h="196850">
                <a:tc>
                  <a:txBody>
                    <a:bodyPr/>
                    <a:lstStyle/>
                    <a:p>
                      <a:pPr algn="ctr" fontAlgn="t">
                        <a:buNone/>
                      </a:pPr>
                      <a:r>
                        <a:rPr lang="fr-FR" sz="1100" b="0" i="0" u="none" strike="noStrike">
                          <a:solidFill>
                            <a:srgbClr val="FFFFFF"/>
                          </a:solidFill>
                          <a:effectLst/>
                          <a:latin typeface="Calibri" panose="020F0502020204030204" pitchFamily="34" charset="0"/>
                        </a:rPr>
                        <a:t>EBE</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t">
                        <a:buNone/>
                      </a:pPr>
                      <a:r>
                        <a:rPr lang="fr-FR" sz="1100" b="0" i="0" u="none" strike="noStrike">
                          <a:solidFill>
                            <a:srgbClr val="FFFFFF"/>
                          </a:solidFill>
                          <a:effectLst/>
                          <a:latin typeface="Calibri" panose="020F0502020204030204" pitchFamily="34" charset="0"/>
                        </a:rPr>
                        <a:t>VA + Subventions d’exploitation – Impôts et taxes – Charges de personnel</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727059485,17</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1527684349,21</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dirty="0">
                          <a:solidFill>
                            <a:srgbClr val="FFFFFF"/>
                          </a:solidFill>
                          <a:effectLst/>
                          <a:latin typeface="Calibri" panose="020F0502020204030204" pitchFamily="34" charset="0"/>
                        </a:rPr>
                        <a:t>1394408075,76</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1948609809"/>
                  </a:ext>
                </a:extLst>
              </a:tr>
            </a:tbl>
          </a:graphicData>
        </a:graphic>
      </p:graphicFrame>
      <p:graphicFrame>
        <p:nvGraphicFramePr>
          <p:cNvPr id="2" name="Graphique 1">
            <a:extLst>
              <a:ext uri="{FF2B5EF4-FFF2-40B4-BE49-F238E27FC236}">
                <a16:creationId xmlns:a16="http://schemas.microsoft.com/office/drawing/2014/main" id="{560E08C6-CA4F-47B5-76B3-E2E47A9D0FBE}"/>
              </a:ext>
            </a:extLst>
          </p:cNvPr>
          <p:cNvGraphicFramePr>
            <a:graphicFrameLocks/>
          </p:cNvGraphicFramePr>
          <p:nvPr>
            <p:extLst>
              <p:ext uri="{D42A27DB-BD31-4B8C-83A1-F6EECF244321}">
                <p14:modId xmlns:p14="http://schemas.microsoft.com/office/powerpoint/2010/main" val="2732843457"/>
              </p:ext>
            </p:extLst>
          </p:nvPr>
        </p:nvGraphicFramePr>
        <p:xfrm>
          <a:off x="353242" y="1186936"/>
          <a:ext cx="5742758" cy="311798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27904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9AAD46A-60AE-A355-D189-861F6F335B76}"/>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1B342EAA-31FF-A4AF-88D8-05673A802208}"/>
              </a:ext>
              <a:ext uri="{C183D7F6-B498-43B3-948B-1728B52AA6E4}">
                <adec:decorative xmlns:adec="http://schemas.microsoft.com/office/drawing/2017/decorative" val="1"/>
              </a:ext>
            </a:extLst>
          </p:cNvPr>
          <p:cNvSpPr/>
          <p:nvPr/>
        </p:nvSpPr>
        <p:spPr>
          <a:xfrm>
            <a:off x="221182" y="1236094"/>
            <a:ext cx="5992991" cy="3117981"/>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rtl="0"/>
            <a:endParaRPr lang="fr-FR" dirty="0"/>
          </a:p>
        </p:txBody>
      </p:sp>
      <p:sp>
        <p:nvSpPr>
          <p:cNvPr id="111" name="Zone de texte 47">
            <a:extLst>
              <a:ext uri="{FF2B5EF4-FFF2-40B4-BE49-F238E27FC236}">
                <a16:creationId xmlns:a16="http://schemas.microsoft.com/office/drawing/2014/main" id="{DA57C5B5-AFFF-A3EB-DFB5-EEC04CDF1353}"/>
              </a:ext>
            </a:extLst>
          </p:cNvPr>
          <p:cNvSpPr txBox="1"/>
          <p:nvPr/>
        </p:nvSpPr>
        <p:spPr>
          <a:xfrm>
            <a:off x="6519346" y="772865"/>
            <a:ext cx="5396429" cy="5909310"/>
          </a:xfrm>
          <a:prstGeom prst="rect">
            <a:avLst/>
          </a:prstGeom>
          <a:noFill/>
          <a:ln w="6350">
            <a:noFill/>
            <a:prstDash val="dash"/>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600" dirty="0"/>
              <a:t>En 2023, le ratio de liquidité générale est inférieur à 1 : cela signifie que l’entreprise n’avait pas assez d’actifs circulants (comme les stocks, créances clients, trésorerie) pour couvrir ses dettes à court terme.</a:t>
            </a:r>
          </a:p>
          <a:p>
            <a:r>
              <a:rPr lang="fr-FR" sz="1600" dirty="0"/>
              <a:t>Dès 2024, la situation change nettement : le ratio dépasse 1,65 et continue d’augmenter en 2025 pour atteindre plus de 2,28. Autrement dit, à cette date, l’OCP dispose de plus du double d’actifs circulants par rapport à ses dettes à court terme, ce qui reflète une position financière solide.</a:t>
            </a:r>
          </a:p>
          <a:p>
            <a:r>
              <a:rPr lang="fr-FR" sz="1600" dirty="0"/>
              <a:t>Le ratio de liquidité réduite évolue dans le même sens : il passe de 0,84 en 2023 à plus de 2,10 en 2025. Cela montre que même sans compter les stocks, l’entreprise est capable d’honorer ses dettes à court terme.</a:t>
            </a:r>
          </a:p>
          <a:p>
            <a:r>
              <a:rPr lang="fr-FR" sz="1600" dirty="0"/>
              <a:t>Quant au ratio de liquidité immédiate, il reste faible sur toute la période, ce qui pourrait sembler inquiétant. Mais en réalité, cela s’explique par la présence de comptes d’associés inscrits dans les actifs circulants. Ces comptes génèrent des intérêts et constituent une forme de liquidité moins directe mais bien réelle. D’ailleurs, ils étaient créditeurs les années précédentes, ce qui a renforcé la trésorerie de l’entreprise.</a:t>
            </a:r>
          </a:p>
          <a:p>
            <a:r>
              <a:rPr lang="fr-FR" sz="1600" dirty="0"/>
              <a:t>Ainsi, malgré un ratio de liquidité immédiate faible, la structure financière globale de l’OCP reste solide et équilibrée.</a:t>
            </a:r>
          </a:p>
          <a:p>
            <a:br>
              <a:rPr lang="fr-FR" sz="1600" dirty="0"/>
            </a:br>
            <a:endParaRPr lang="fr-FR" sz="1600" dirty="0">
              <a:solidFill>
                <a:schemeClr val="tx1">
                  <a:lumMod val="75000"/>
                  <a:lumOff val="25000"/>
                </a:schemeClr>
              </a:solidFill>
            </a:endParaRPr>
          </a:p>
        </p:txBody>
      </p:sp>
      <p:sp>
        <p:nvSpPr>
          <p:cNvPr id="75" name="Rectangle : Coins arrondis 74">
            <a:extLst>
              <a:ext uri="{FF2B5EF4-FFF2-40B4-BE49-F238E27FC236}">
                <a16:creationId xmlns:a16="http://schemas.microsoft.com/office/drawing/2014/main" id="{3023B4CE-5BFD-5F09-2188-3617E8C1D2EE}"/>
              </a:ext>
            </a:extLst>
          </p:cNvPr>
          <p:cNvSpPr/>
          <p:nvPr/>
        </p:nvSpPr>
        <p:spPr>
          <a:xfrm>
            <a:off x="580484" y="1020370"/>
            <a:ext cx="5092171" cy="492443"/>
          </a:xfrm>
          <a:prstGeom prst="roundRect">
            <a:avLst>
              <a:gd name="adj" fmla="val 50000"/>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defRPr sz="1400" b="0" i="0" u="none" strike="noStrike" kern="1200" spc="0" baseline="0">
                <a:solidFill>
                  <a:prstClr val="black">
                    <a:lumMod val="65000"/>
                    <a:lumOff val="35000"/>
                  </a:prstClr>
                </a:solidFill>
                <a:latin typeface="+mn-lt"/>
                <a:ea typeface="+mn-ea"/>
                <a:cs typeface="+mn-cs"/>
              </a:defRPr>
            </a:pPr>
            <a:r>
              <a:rPr lang="fr-FR" sz="1600" dirty="0"/>
              <a:t>    </a:t>
            </a:r>
            <a:r>
              <a:rPr lang="fr-FR" sz="1600" b="1" spc="50" dirty="0">
                <a:ln w="0"/>
                <a:solidFill>
                  <a:schemeClr val="bg2"/>
                </a:solidFill>
                <a:effectLst>
                  <a:innerShdw blurRad="63500" dist="50800" dir="13500000">
                    <a:srgbClr val="000000">
                      <a:alpha val="50000"/>
                    </a:srgbClr>
                  </a:innerShdw>
                </a:effectLst>
              </a:rPr>
              <a:t>Évolution des ratios de liquidité (2023 – 2025)</a:t>
            </a:r>
            <a:endParaRPr lang="fr-FR" sz="1600" dirty="0"/>
          </a:p>
        </p:txBody>
      </p:sp>
      <p:sp>
        <p:nvSpPr>
          <p:cNvPr id="122" name="Ovale 121">
            <a:extLst>
              <a:ext uri="{FF2B5EF4-FFF2-40B4-BE49-F238E27FC236}">
                <a16:creationId xmlns:a16="http://schemas.microsoft.com/office/drawing/2014/main" id="{9EE92489-CAC2-FEC1-C9DF-8A4F60C99DB5}"/>
              </a:ext>
              <a:ext uri="{C183D7F6-B498-43B3-948B-1728B52AA6E4}">
                <adec:decorative xmlns:adec="http://schemas.microsoft.com/office/drawing/2017/decorative" val="1"/>
              </a:ext>
            </a:extLst>
          </p:cNvPr>
          <p:cNvSpPr/>
          <p:nvPr/>
        </p:nvSpPr>
        <p:spPr>
          <a:xfrm>
            <a:off x="710643" y="1074280"/>
            <a:ext cx="385764" cy="3857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nvGrpSpPr>
          <p:cNvPr id="123" name="Groupe 122" descr="Ceci est une icône représentant un graphique à barres et un graphique en courbes. ">
            <a:extLst>
              <a:ext uri="{FF2B5EF4-FFF2-40B4-BE49-F238E27FC236}">
                <a16:creationId xmlns:a16="http://schemas.microsoft.com/office/drawing/2014/main" id="{80BAC20E-8E5E-B546-7205-F13333ABB822}"/>
              </a:ext>
            </a:extLst>
          </p:cNvPr>
          <p:cNvGrpSpPr/>
          <p:nvPr/>
        </p:nvGrpSpPr>
        <p:grpSpPr>
          <a:xfrm>
            <a:off x="805398" y="1155258"/>
            <a:ext cx="196255" cy="196255"/>
            <a:chOff x="4319588" y="2492375"/>
            <a:chExt cx="287338" cy="287338"/>
          </a:xfrm>
          <a:solidFill>
            <a:srgbClr val="CE295E"/>
          </a:solidFill>
        </p:grpSpPr>
        <p:sp>
          <p:nvSpPr>
            <p:cNvPr id="124" name="Forme libre 372">
              <a:extLst>
                <a:ext uri="{FF2B5EF4-FFF2-40B4-BE49-F238E27FC236}">
                  <a16:creationId xmlns:a16="http://schemas.microsoft.com/office/drawing/2014/main" id="{CA056835-B04D-52AA-5176-E1FAE05F3EE3}"/>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rtl="0"/>
              <a:endParaRPr lang="fr-FR" dirty="0"/>
            </a:p>
          </p:txBody>
        </p:sp>
        <p:sp>
          <p:nvSpPr>
            <p:cNvPr id="125" name="Forme libre 373">
              <a:extLst>
                <a:ext uri="{FF2B5EF4-FFF2-40B4-BE49-F238E27FC236}">
                  <a16:creationId xmlns:a16="http://schemas.microsoft.com/office/drawing/2014/main" id="{5BCA6CD3-A007-8A6E-38BF-6B9088D52102}"/>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rtl="0"/>
              <a:endParaRPr lang="fr-FR" dirty="0"/>
            </a:p>
          </p:txBody>
        </p:sp>
      </p:grpSp>
      <p:sp>
        <p:nvSpPr>
          <p:cNvPr id="130" name="Espace réservé du numéro de diapositive 129">
            <a:extLst>
              <a:ext uri="{FF2B5EF4-FFF2-40B4-BE49-F238E27FC236}">
                <a16:creationId xmlns:a16="http://schemas.microsoft.com/office/drawing/2014/main" id="{3466C9B5-6AB3-07CE-AFE6-CAD5891C4075}"/>
              </a:ext>
            </a:extLst>
          </p:cNvPr>
          <p:cNvSpPr>
            <a:spLocks noGrp="1"/>
          </p:cNvSpPr>
          <p:nvPr>
            <p:ph type="sldNum" sz="quarter" idx="12"/>
          </p:nvPr>
        </p:nvSpPr>
        <p:spPr>
          <a:xfrm>
            <a:off x="11706225" y="590303"/>
            <a:ext cx="419100" cy="365125"/>
          </a:xfrm>
        </p:spPr>
        <p:txBody>
          <a:bodyPr rtlCol="0"/>
          <a:lstStyle/>
          <a:p>
            <a:pPr rtl="0"/>
            <a:fld id="{0FD50806-BABF-4915-9689-3B9956D1C75C}" type="slidenum">
              <a:rPr lang="fr-FR" smtClean="0"/>
              <a:pPr rtl="0"/>
              <a:t>3</a:t>
            </a:fld>
            <a:endParaRPr lang="fr-FR" dirty="0"/>
          </a:p>
        </p:txBody>
      </p:sp>
      <p:graphicFrame>
        <p:nvGraphicFramePr>
          <p:cNvPr id="3" name="Tableau 2">
            <a:extLst>
              <a:ext uri="{FF2B5EF4-FFF2-40B4-BE49-F238E27FC236}">
                <a16:creationId xmlns:a16="http://schemas.microsoft.com/office/drawing/2014/main" id="{E269DF3E-EDD8-CFC1-8857-CA995ACB094E}"/>
              </a:ext>
            </a:extLst>
          </p:cNvPr>
          <p:cNvGraphicFramePr>
            <a:graphicFrameLocks noGrp="1"/>
          </p:cNvGraphicFramePr>
          <p:nvPr>
            <p:extLst>
              <p:ext uri="{D42A27DB-BD31-4B8C-83A1-F6EECF244321}">
                <p14:modId xmlns:p14="http://schemas.microsoft.com/office/powerpoint/2010/main" val="15834440"/>
              </p:ext>
            </p:extLst>
          </p:nvPr>
        </p:nvGraphicFramePr>
        <p:xfrm>
          <a:off x="269014" y="4634301"/>
          <a:ext cx="6007100" cy="1393190"/>
        </p:xfrm>
        <a:graphic>
          <a:graphicData uri="http://schemas.openxmlformats.org/drawingml/2006/table">
            <a:tbl>
              <a:tblPr/>
              <a:tblGrid>
                <a:gridCol w="1117600">
                  <a:extLst>
                    <a:ext uri="{9D8B030D-6E8A-4147-A177-3AD203B41FA5}">
                      <a16:colId xmlns:a16="http://schemas.microsoft.com/office/drawing/2014/main" val="1572210918"/>
                    </a:ext>
                  </a:extLst>
                </a:gridCol>
                <a:gridCol w="1397000">
                  <a:extLst>
                    <a:ext uri="{9D8B030D-6E8A-4147-A177-3AD203B41FA5}">
                      <a16:colId xmlns:a16="http://schemas.microsoft.com/office/drawing/2014/main" val="319977780"/>
                    </a:ext>
                  </a:extLst>
                </a:gridCol>
                <a:gridCol w="1193800">
                  <a:extLst>
                    <a:ext uri="{9D8B030D-6E8A-4147-A177-3AD203B41FA5}">
                      <a16:colId xmlns:a16="http://schemas.microsoft.com/office/drawing/2014/main" val="1209004901"/>
                    </a:ext>
                  </a:extLst>
                </a:gridCol>
                <a:gridCol w="1257300">
                  <a:extLst>
                    <a:ext uri="{9D8B030D-6E8A-4147-A177-3AD203B41FA5}">
                      <a16:colId xmlns:a16="http://schemas.microsoft.com/office/drawing/2014/main" val="2919707333"/>
                    </a:ext>
                  </a:extLst>
                </a:gridCol>
                <a:gridCol w="1041400">
                  <a:extLst>
                    <a:ext uri="{9D8B030D-6E8A-4147-A177-3AD203B41FA5}">
                      <a16:colId xmlns:a16="http://schemas.microsoft.com/office/drawing/2014/main" val="3553426994"/>
                    </a:ext>
                  </a:extLst>
                </a:gridCol>
              </a:tblGrid>
              <a:tr h="368300">
                <a:tc>
                  <a:txBody>
                    <a:bodyPr/>
                    <a:lstStyle/>
                    <a:p>
                      <a:pPr algn="ctr" fontAlgn="ctr">
                        <a:buNone/>
                      </a:pPr>
                      <a:r>
                        <a:rPr lang="fr-FR" sz="1100" b="0" i="0" u="none" strike="noStrike" dirty="0">
                          <a:solidFill>
                            <a:srgbClr val="FFFFFF"/>
                          </a:solidFill>
                          <a:effectLst/>
                          <a:latin typeface="Calibri" panose="020F0502020204030204" pitchFamily="34" charset="0"/>
                        </a:rPr>
                        <a:t>Indicateurs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dirty="0">
                          <a:solidFill>
                            <a:srgbClr val="FFFFFF"/>
                          </a:solidFill>
                          <a:effectLst/>
                          <a:latin typeface="Calibri" panose="020F0502020204030204" pitchFamily="34" charset="0"/>
                        </a:rPr>
                        <a:t>Formules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2023</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2024</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extLst>
                  <a:ext uri="{0D108BD9-81ED-4DB2-BD59-A6C34878D82A}">
                    <a16:rowId xmlns:a16="http://schemas.microsoft.com/office/drawing/2014/main" val="2311537613"/>
                  </a:ext>
                </a:extLst>
              </a:tr>
              <a:tr h="196850">
                <a:tc>
                  <a:txBody>
                    <a:bodyPr/>
                    <a:lstStyle/>
                    <a:p>
                      <a:pPr algn="ctr" fontAlgn="b">
                        <a:buNone/>
                      </a:pPr>
                      <a:r>
                        <a:rPr lang="fr-FR" sz="1100" b="0" i="0" u="none" strike="noStrike">
                          <a:solidFill>
                            <a:srgbClr val="FFFFFF"/>
                          </a:solidFill>
                          <a:effectLst/>
                          <a:latin typeface="Calibri" panose="020F0502020204030204" pitchFamily="34" charset="0"/>
                        </a:rPr>
                        <a:t>Ratio de liquidité générale </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AC / PC</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0,909600443</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1,650895316</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2,289055988</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4148564150"/>
                  </a:ext>
                </a:extLst>
              </a:tr>
              <a:tr h="196850">
                <a:tc>
                  <a:txBody>
                    <a:bodyPr/>
                    <a:lstStyle/>
                    <a:p>
                      <a:pPr algn="ctr" fontAlgn="ctr">
                        <a:buNone/>
                      </a:pPr>
                      <a:r>
                        <a:rPr lang="fr-FR" sz="1100" b="0" i="0" u="none" strike="noStrike">
                          <a:solidFill>
                            <a:srgbClr val="FFFFFF"/>
                          </a:solidFill>
                          <a:effectLst/>
                          <a:latin typeface="Calibri" panose="020F0502020204030204" pitchFamily="34" charset="0"/>
                        </a:rPr>
                        <a:t>Ratio de liquidité immédiate</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Trésorerie Actif / PC</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0,027716433</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0,130351158</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0,076994372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2207507430"/>
                  </a:ext>
                </a:extLst>
              </a:tr>
              <a:tr h="196850">
                <a:tc>
                  <a:txBody>
                    <a:bodyPr/>
                    <a:lstStyle/>
                    <a:p>
                      <a:pPr algn="ctr" fontAlgn="b">
                        <a:buNone/>
                      </a:pPr>
                      <a:r>
                        <a:rPr lang="fr-FR" sz="1100" b="0" i="0" u="none" strike="noStrike" dirty="0">
                          <a:solidFill>
                            <a:srgbClr val="FFFFFF"/>
                          </a:solidFill>
                          <a:effectLst/>
                          <a:latin typeface="Calibri" panose="020F0502020204030204" pitchFamily="34" charset="0"/>
                        </a:rPr>
                        <a:t>Ratios de liquidité réduite</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a:noFill/>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(AC - Stocks) / PC</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a:noFill/>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0,842708209</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a:noFill/>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1,41092395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dirty="0">
                          <a:solidFill>
                            <a:srgbClr val="FFFFFF"/>
                          </a:solidFill>
                          <a:effectLst/>
                          <a:latin typeface="Calibri" panose="020F0502020204030204" pitchFamily="34" charset="0"/>
                        </a:rPr>
                        <a:t>2,101797054</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3476220902"/>
                  </a:ext>
                </a:extLst>
              </a:tr>
            </a:tbl>
          </a:graphicData>
        </a:graphic>
      </p:graphicFrame>
      <p:graphicFrame>
        <p:nvGraphicFramePr>
          <p:cNvPr id="2" name="Graphique 1">
            <a:extLst>
              <a:ext uri="{FF2B5EF4-FFF2-40B4-BE49-F238E27FC236}">
                <a16:creationId xmlns:a16="http://schemas.microsoft.com/office/drawing/2014/main" id="{E26CC098-A938-2560-7B5A-30698E60ADB4}"/>
              </a:ext>
            </a:extLst>
          </p:cNvPr>
          <p:cNvGraphicFramePr>
            <a:graphicFrameLocks/>
          </p:cNvGraphicFramePr>
          <p:nvPr>
            <p:extLst>
              <p:ext uri="{D42A27DB-BD31-4B8C-83A1-F6EECF244321}">
                <p14:modId xmlns:p14="http://schemas.microsoft.com/office/powerpoint/2010/main" val="2582467927"/>
              </p:ext>
            </p:extLst>
          </p:nvPr>
        </p:nvGraphicFramePr>
        <p:xfrm>
          <a:off x="982511" y="1527104"/>
          <a:ext cx="4580107" cy="271861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968946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324889-DA35-88B2-8B7E-6B44D04AE0D9}"/>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1F163CF3-4DA8-B20C-46E6-3E5B1AE23E03}"/>
              </a:ext>
              <a:ext uri="{C183D7F6-B498-43B3-948B-1728B52AA6E4}">
                <adec:decorative xmlns:adec="http://schemas.microsoft.com/office/drawing/2017/decorative" val="1"/>
              </a:ext>
            </a:extLst>
          </p:cNvPr>
          <p:cNvSpPr/>
          <p:nvPr/>
        </p:nvSpPr>
        <p:spPr>
          <a:xfrm>
            <a:off x="155921" y="590303"/>
            <a:ext cx="6371879" cy="2330697"/>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rtl="0"/>
            <a:endParaRPr lang="fr-FR" dirty="0"/>
          </a:p>
        </p:txBody>
      </p:sp>
      <p:sp>
        <p:nvSpPr>
          <p:cNvPr id="111" name="Zone de texte 47">
            <a:extLst>
              <a:ext uri="{FF2B5EF4-FFF2-40B4-BE49-F238E27FC236}">
                <a16:creationId xmlns:a16="http://schemas.microsoft.com/office/drawing/2014/main" id="{67A05696-34AB-C0C7-ABD4-1D1F2AFC26C1}"/>
              </a:ext>
            </a:extLst>
          </p:cNvPr>
          <p:cNvSpPr txBox="1"/>
          <p:nvPr/>
        </p:nvSpPr>
        <p:spPr>
          <a:xfrm>
            <a:off x="7014746" y="772865"/>
            <a:ext cx="4901029" cy="5170646"/>
          </a:xfrm>
          <a:prstGeom prst="rect">
            <a:avLst/>
          </a:prstGeom>
          <a:noFill/>
          <a:ln w="6350">
            <a:noFill/>
            <a:prstDash val="dash"/>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1400" dirty="0"/>
              <a:t>La marge opérationnelle progresse nettement, lorsqu’elle a passé de 24,7% en 2023 à plus de 32% en 2025. Cela montre une meilleure maîtrise des coûts et une capacité renforcée à générer de la valeur à partir des ventes.</a:t>
            </a:r>
          </a:p>
          <a:p>
            <a:endParaRPr lang="fr-FR" sz="1400" dirty="0"/>
          </a:p>
          <a:p>
            <a:r>
              <a:rPr lang="fr-FR" sz="1400" dirty="0"/>
              <a:t>La marge nette est plus variable puisqu’elle atteint 29% en 2024, puis redescend à 22,7% en 2025. Cette baisse s’explique surtout par des charges financières et exceptionnelles qui pèsent sur le résultat final, malgré une bonne performance opérationnelle.</a:t>
            </a:r>
          </a:p>
          <a:p>
            <a:endParaRPr lang="fr-FR" sz="1400" dirty="0"/>
          </a:p>
          <a:p>
            <a:r>
              <a:rPr lang="fr-FR" sz="1400" dirty="0"/>
              <a:t>La Valeur Ajoutée (VA) augmente fortement sur cette période, ce qui signifie que l’OCP a crée de plus en plus de richesse à travers son activité, ce qui a lui permet de mieux rémunérer ses salariés, l’État et ses investisseurs.</a:t>
            </a:r>
          </a:p>
          <a:p>
            <a:r>
              <a:rPr lang="fr-FR" sz="1400" dirty="0"/>
              <a:t>Le Résultat d’Exploitation (RE) suit cette bonne tendance avec une forte croissance entre 2023 et 2024, puis reste stable en 2025.</a:t>
            </a:r>
          </a:p>
          <a:p>
            <a:r>
              <a:rPr lang="fr-FR" sz="1400" dirty="0"/>
              <a:t>Le Résultat Courant (RC) reflète l’impact de la structure financière lorsqu’il s’améliore en 2024, mais baisse un peu en 2025, ce qui illustre la pression des charges financières sur la rentabilité globale.</a:t>
            </a:r>
          </a:p>
          <a:p>
            <a:endParaRPr lang="fr-FR" sz="1400" dirty="0"/>
          </a:p>
          <a:p>
            <a:r>
              <a:rPr lang="fr-FR" sz="1400" dirty="0"/>
              <a:t>Enfin, le ROA (rentabilité économique) et le ROE (rentabilité financière) progressent en 2024, ce qui montre une meilleure utilisation des actifs et une bonne rentabilité des capitaux propres, avant qu’ils ont connu une légère baisse en 2025.</a:t>
            </a:r>
          </a:p>
        </p:txBody>
      </p:sp>
      <p:sp>
        <p:nvSpPr>
          <p:cNvPr id="75" name="Rectangle : Coins arrondis 74">
            <a:extLst>
              <a:ext uri="{FF2B5EF4-FFF2-40B4-BE49-F238E27FC236}">
                <a16:creationId xmlns:a16="http://schemas.microsoft.com/office/drawing/2014/main" id="{E6EBBEBB-CA15-4EEC-0569-CB28C84494B0}"/>
              </a:ext>
            </a:extLst>
          </p:cNvPr>
          <p:cNvSpPr/>
          <p:nvPr/>
        </p:nvSpPr>
        <p:spPr>
          <a:xfrm>
            <a:off x="720943" y="315524"/>
            <a:ext cx="5287106" cy="421606"/>
          </a:xfrm>
          <a:prstGeom prst="roundRect">
            <a:avLst>
              <a:gd name="adj" fmla="val 50000"/>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defRPr sz="1400" b="0" i="0" u="none" strike="noStrike" kern="1200" spc="0" baseline="0">
                <a:solidFill>
                  <a:prstClr val="black">
                    <a:lumMod val="65000"/>
                    <a:lumOff val="35000"/>
                  </a:prstClr>
                </a:solidFill>
                <a:latin typeface="+mn-lt"/>
                <a:ea typeface="+mn-ea"/>
                <a:cs typeface="+mn-cs"/>
              </a:defRPr>
            </a:pPr>
            <a:r>
              <a:rPr lang="fr-FR" sz="1600" dirty="0"/>
              <a:t>      </a:t>
            </a:r>
            <a:r>
              <a:rPr lang="fr-FR" sz="1600" b="1" spc="50" dirty="0">
                <a:ln w="0"/>
                <a:solidFill>
                  <a:schemeClr val="bg2"/>
                </a:solidFill>
                <a:effectLst>
                  <a:innerShdw blurRad="63500" dist="50800" dir="13500000">
                    <a:srgbClr val="000000">
                      <a:alpha val="50000"/>
                    </a:srgbClr>
                  </a:innerShdw>
                </a:effectLst>
              </a:rPr>
              <a:t>Évolution des ratios de rentabilité (%) 2023-2025</a:t>
            </a:r>
            <a:endParaRPr lang="fr-FR" sz="1600" dirty="0"/>
          </a:p>
        </p:txBody>
      </p:sp>
      <p:sp>
        <p:nvSpPr>
          <p:cNvPr id="122" name="Ovale 121">
            <a:extLst>
              <a:ext uri="{FF2B5EF4-FFF2-40B4-BE49-F238E27FC236}">
                <a16:creationId xmlns:a16="http://schemas.microsoft.com/office/drawing/2014/main" id="{F7FAC9C1-9A9A-5860-7D5E-816952BA0C86}"/>
              </a:ext>
              <a:ext uri="{C183D7F6-B498-43B3-948B-1728B52AA6E4}">
                <adec:decorative xmlns:adec="http://schemas.microsoft.com/office/drawing/2017/decorative" val="1"/>
              </a:ext>
            </a:extLst>
          </p:cNvPr>
          <p:cNvSpPr/>
          <p:nvPr/>
        </p:nvSpPr>
        <p:spPr>
          <a:xfrm>
            <a:off x="800478" y="368862"/>
            <a:ext cx="410153" cy="33027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nvGrpSpPr>
          <p:cNvPr id="123" name="Groupe 122" descr="Ceci est une icône représentant un graphique à barres et un graphique en courbes. ">
            <a:extLst>
              <a:ext uri="{FF2B5EF4-FFF2-40B4-BE49-F238E27FC236}">
                <a16:creationId xmlns:a16="http://schemas.microsoft.com/office/drawing/2014/main" id="{0B883BF7-E07D-BFB2-CAA8-ADD4E3291162}"/>
              </a:ext>
            </a:extLst>
          </p:cNvPr>
          <p:cNvGrpSpPr/>
          <p:nvPr/>
        </p:nvGrpSpPr>
        <p:grpSpPr>
          <a:xfrm>
            <a:off x="895232" y="463617"/>
            <a:ext cx="208663" cy="168024"/>
            <a:chOff x="4319588" y="2492375"/>
            <a:chExt cx="287338" cy="287338"/>
          </a:xfrm>
          <a:solidFill>
            <a:srgbClr val="CE295E"/>
          </a:solidFill>
        </p:grpSpPr>
        <p:sp>
          <p:nvSpPr>
            <p:cNvPr id="124" name="Forme libre 372">
              <a:extLst>
                <a:ext uri="{FF2B5EF4-FFF2-40B4-BE49-F238E27FC236}">
                  <a16:creationId xmlns:a16="http://schemas.microsoft.com/office/drawing/2014/main" id="{9D9BC5F9-7256-4E1E-E352-301D63D3654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rtl="0"/>
              <a:endParaRPr lang="fr-FR" dirty="0"/>
            </a:p>
          </p:txBody>
        </p:sp>
        <p:sp>
          <p:nvSpPr>
            <p:cNvPr id="125" name="Forme libre 373">
              <a:extLst>
                <a:ext uri="{FF2B5EF4-FFF2-40B4-BE49-F238E27FC236}">
                  <a16:creationId xmlns:a16="http://schemas.microsoft.com/office/drawing/2014/main" id="{FAD870EA-E952-978F-AAE7-5F51461D64D6}"/>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rtl="0"/>
              <a:endParaRPr lang="fr-FR" dirty="0"/>
            </a:p>
          </p:txBody>
        </p:sp>
      </p:grpSp>
      <p:sp>
        <p:nvSpPr>
          <p:cNvPr id="130" name="Espace réservé du numéro de diapositive 129">
            <a:extLst>
              <a:ext uri="{FF2B5EF4-FFF2-40B4-BE49-F238E27FC236}">
                <a16:creationId xmlns:a16="http://schemas.microsoft.com/office/drawing/2014/main" id="{1E0C1922-F62D-6564-C665-160AC76A61B3}"/>
              </a:ext>
            </a:extLst>
          </p:cNvPr>
          <p:cNvSpPr>
            <a:spLocks noGrp="1"/>
          </p:cNvSpPr>
          <p:nvPr>
            <p:ph type="sldNum" sz="quarter" idx="12"/>
          </p:nvPr>
        </p:nvSpPr>
        <p:spPr>
          <a:xfrm>
            <a:off x="11706225" y="590303"/>
            <a:ext cx="419100" cy="365125"/>
          </a:xfrm>
        </p:spPr>
        <p:txBody>
          <a:bodyPr rtlCol="0"/>
          <a:lstStyle/>
          <a:p>
            <a:pPr rtl="0"/>
            <a:fld id="{0FD50806-BABF-4915-9689-3B9956D1C75C}" type="slidenum">
              <a:rPr lang="fr-FR" smtClean="0"/>
              <a:pPr rtl="0"/>
              <a:t>4</a:t>
            </a:fld>
            <a:endParaRPr lang="fr-FR" dirty="0"/>
          </a:p>
        </p:txBody>
      </p:sp>
      <p:graphicFrame>
        <p:nvGraphicFramePr>
          <p:cNvPr id="3" name="Tableau 2">
            <a:extLst>
              <a:ext uri="{FF2B5EF4-FFF2-40B4-BE49-F238E27FC236}">
                <a16:creationId xmlns:a16="http://schemas.microsoft.com/office/drawing/2014/main" id="{4C76D535-4317-14D0-8263-F36AC4E0243E}"/>
              </a:ext>
            </a:extLst>
          </p:cNvPr>
          <p:cNvGraphicFramePr>
            <a:graphicFrameLocks noGrp="1"/>
          </p:cNvGraphicFramePr>
          <p:nvPr>
            <p:extLst>
              <p:ext uri="{D42A27DB-BD31-4B8C-83A1-F6EECF244321}">
                <p14:modId xmlns:p14="http://schemas.microsoft.com/office/powerpoint/2010/main" val="937073642"/>
              </p:ext>
            </p:extLst>
          </p:nvPr>
        </p:nvGraphicFramePr>
        <p:xfrm>
          <a:off x="155921" y="3311111"/>
          <a:ext cx="6550885" cy="3178027"/>
        </p:xfrm>
        <a:graphic>
          <a:graphicData uri="http://schemas.openxmlformats.org/drawingml/2006/table">
            <a:tbl>
              <a:tblPr/>
              <a:tblGrid>
                <a:gridCol w="1036519">
                  <a:extLst>
                    <a:ext uri="{9D8B030D-6E8A-4147-A177-3AD203B41FA5}">
                      <a16:colId xmlns:a16="http://schemas.microsoft.com/office/drawing/2014/main" val="1572210918"/>
                    </a:ext>
                  </a:extLst>
                </a:gridCol>
                <a:gridCol w="1705712">
                  <a:extLst>
                    <a:ext uri="{9D8B030D-6E8A-4147-A177-3AD203B41FA5}">
                      <a16:colId xmlns:a16="http://schemas.microsoft.com/office/drawing/2014/main" val="319977780"/>
                    </a:ext>
                  </a:extLst>
                </a:gridCol>
                <a:gridCol w="1301867">
                  <a:extLst>
                    <a:ext uri="{9D8B030D-6E8A-4147-A177-3AD203B41FA5}">
                      <a16:colId xmlns:a16="http://schemas.microsoft.com/office/drawing/2014/main" val="1209004901"/>
                    </a:ext>
                  </a:extLst>
                </a:gridCol>
                <a:gridCol w="1371116">
                  <a:extLst>
                    <a:ext uri="{9D8B030D-6E8A-4147-A177-3AD203B41FA5}">
                      <a16:colId xmlns:a16="http://schemas.microsoft.com/office/drawing/2014/main" val="2919707333"/>
                    </a:ext>
                  </a:extLst>
                </a:gridCol>
                <a:gridCol w="1135671">
                  <a:extLst>
                    <a:ext uri="{9D8B030D-6E8A-4147-A177-3AD203B41FA5}">
                      <a16:colId xmlns:a16="http://schemas.microsoft.com/office/drawing/2014/main" val="3553426994"/>
                    </a:ext>
                  </a:extLst>
                </a:gridCol>
              </a:tblGrid>
              <a:tr h="295460">
                <a:tc>
                  <a:txBody>
                    <a:bodyPr/>
                    <a:lstStyle/>
                    <a:p>
                      <a:pPr algn="ctr" fontAlgn="ctr">
                        <a:buNone/>
                      </a:pPr>
                      <a:r>
                        <a:rPr lang="fr-FR" sz="1100" b="0" i="0" u="none" strike="noStrike" dirty="0">
                          <a:solidFill>
                            <a:srgbClr val="FFFFFF"/>
                          </a:solidFill>
                          <a:effectLst/>
                          <a:latin typeface="Calibri" panose="020F0502020204030204" pitchFamily="34" charset="0"/>
                        </a:rPr>
                        <a:t>Indicateurs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dirty="0">
                          <a:solidFill>
                            <a:srgbClr val="FFFFFF"/>
                          </a:solidFill>
                          <a:effectLst/>
                          <a:latin typeface="Calibri" panose="020F0502020204030204" pitchFamily="34" charset="0"/>
                        </a:rPr>
                        <a:t>Formules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2023</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2024</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extLst>
                  <a:ext uri="{0D108BD9-81ED-4DB2-BD59-A6C34878D82A}">
                    <a16:rowId xmlns:a16="http://schemas.microsoft.com/office/drawing/2014/main" val="2311537613"/>
                  </a:ext>
                </a:extLst>
              </a:tr>
              <a:tr h="274064">
                <a:tc>
                  <a:txBody>
                    <a:bodyPr/>
                    <a:lstStyle/>
                    <a:p>
                      <a:pPr algn="ctr" fontAlgn="ctr">
                        <a:buNone/>
                      </a:pPr>
                      <a:r>
                        <a:rPr lang="fr-FR" sz="1100" b="0" i="0" u="none" strike="noStrike">
                          <a:solidFill>
                            <a:srgbClr val="FFFFFF"/>
                          </a:solidFill>
                          <a:effectLst/>
                          <a:latin typeface="Calibri" panose="020F0502020204030204" pitchFamily="34" charset="0"/>
                        </a:rPr>
                        <a:t>Marge opérationnelle</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Résultat d’exploitation / Chiffre d’affaires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0,247885267</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0,306116049</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0,324596366</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4148564150"/>
                  </a:ext>
                </a:extLst>
              </a:tr>
              <a:tr h="274064">
                <a:tc>
                  <a:txBody>
                    <a:bodyPr/>
                    <a:lstStyle/>
                    <a:p>
                      <a:pPr algn="ctr" fontAlgn="ctr">
                        <a:buNone/>
                      </a:pPr>
                      <a:r>
                        <a:rPr lang="fr-FR" sz="1100" b="0" i="0" u="none" strike="noStrike">
                          <a:solidFill>
                            <a:srgbClr val="FFFFFF"/>
                          </a:solidFill>
                          <a:effectLst/>
                          <a:latin typeface="Calibri" panose="020F0502020204030204" pitchFamily="34" charset="0"/>
                        </a:rPr>
                        <a:t>Marge nette</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Résultat net / Chiffre d’affaires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0,227428733</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0,290804967</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dirty="0">
                          <a:solidFill>
                            <a:srgbClr val="FFFFFF"/>
                          </a:solidFill>
                          <a:effectLst/>
                          <a:latin typeface="Calibri" panose="020F0502020204030204" pitchFamily="34" charset="0"/>
                        </a:rPr>
                        <a:t>0,227945705</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2207507430"/>
                  </a:ext>
                </a:extLst>
              </a:tr>
              <a:tr h="397433">
                <a:tc>
                  <a:txBody>
                    <a:bodyPr/>
                    <a:lstStyle/>
                    <a:p>
                      <a:pPr algn="ctr" fontAlgn="ctr">
                        <a:buNone/>
                      </a:pPr>
                      <a:r>
                        <a:rPr lang="fr-FR" sz="1100" b="0" i="0" u="none" strike="noStrike">
                          <a:solidFill>
                            <a:srgbClr val="FFFFFF"/>
                          </a:solidFill>
                          <a:effectLst/>
                          <a:latin typeface="Calibri" panose="020F0502020204030204" pitchFamily="34" charset="0"/>
                        </a:rPr>
                        <a:t>ROA (Rentabilité économique)</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Résultat net / Total actif</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0,038296193</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0,102176679</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0,077289638</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3476220902"/>
                  </a:ext>
                </a:extLst>
              </a:tr>
              <a:tr h="274064">
                <a:tc>
                  <a:txBody>
                    <a:bodyPr/>
                    <a:lstStyle/>
                    <a:p>
                      <a:pPr algn="ctr" fontAlgn="ctr">
                        <a:buNone/>
                      </a:pPr>
                      <a:r>
                        <a:rPr lang="fr-FR" sz="1100" b="0" i="0" u="none" strike="noStrike">
                          <a:solidFill>
                            <a:srgbClr val="FFFFFF"/>
                          </a:solidFill>
                          <a:effectLst/>
                          <a:latin typeface="Calibri" panose="020F0502020204030204" pitchFamily="34" charset="0"/>
                        </a:rPr>
                        <a:t>ROE (Rentabilité financière)</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Résultat net / Capitaux propres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0,05451109</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0,122039902</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r" fontAlgn="b">
                        <a:buNone/>
                      </a:pPr>
                      <a:r>
                        <a:rPr lang="fr-FR" sz="1100" b="0" i="0" u="none" strike="noStrike">
                          <a:solidFill>
                            <a:srgbClr val="FFFFFF"/>
                          </a:solidFill>
                          <a:effectLst/>
                          <a:latin typeface="Calibri" panose="020F0502020204030204" pitchFamily="34" charset="0"/>
                        </a:rPr>
                        <a:t>0,091070573</a:t>
                      </a:r>
                    </a:p>
                  </a:txBody>
                  <a:tcPr marL="6350" marR="6350" marT="6350" marB="0" anchor="b">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2178065144"/>
                  </a:ext>
                </a:extLst>
              </a:tr>
              <a:tr h="274064">
                <a:tc>
                  <a:txBody>
                    <a:bodyPr/>
                    <a:lstStyle/>
                    <a:p>
                      <a:pPr algn="ctr" fontAlgn="ctr">
                        <a:buNone/>
                      </a:pPr>
                      <a:r>
                        <a:rPr lang="fr-FR" sz="1100" b="0" i="0" u="none" strike="noStrike">
                          <a:solidFill>
                            <a:srgbClr val="FFFFFF"/>
                          </a:solidFill>
                          <a:effectLst/>
                          <a:latin typeface="Calibri" panose="020F0502020204030204" pitchFamily="34" charset="0"/>
                        </a:rPr>
                        <a:t>VA (Valeur Ajoutée)</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dirty="0">
                          <a:solidFill>
                            <a:srgbClr val="FFFFFF"/>
                          </a:solidFill>
                          <a:effectLst/>
                          <a:latin typeface="Calibri" panose="020F0502020204030204" pitchFamily="34" charset="0"/>
                        </a:rPr>
                        <a:t>Production de l’exercice – Consommations externes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727764730,19</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1528388736,85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1295113050,76</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3875961474"/>
                  </a:ext>
                </a:extLst>
              </a:tr>
              <a:tr h="659084">
                <a:tc>
                  <a:txBody>
                    <a:bodyPr/>
                    <a:lstStyle/>
                    <a:p>
                      <a:pPr algn="ctr" fontAlgn="ctr">
                        <a:buNone/>
                      </a:pPr>
                      <a:r>
                        <a:rPr lang="fr-FR" sz="1100" b="0" i="0" u="none" strike="noStrike">
                          <a:solidFill>
                            <a:srgbClr val="FFFFFF"/>
                          </a:solidFill>
                          <a:effectLst/>
                          <a:latin typeface="Calibri" panose="020F0502020204030204" pitchFamily="34" charset="0"/>
                        </a:rPr>
                        <a:t>Résultat d’exploitation </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dirty="0">
                          <a:solidFill>
                            <a:srgbClr val="FFFFFF"/>
                          </a:solidFill>
                          <a:effectLst/>
                          <a:latin typeface="Calibri" panose="020F0502020204030204" pitchFamily="34" charset="0"/>
                        </a:rPr>
                        <a:t>EBE + Autres produits d’exploitation – Autres charges d’exploitation + Reprises d’exploitation – Dotations d’exploitation</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397742441,32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1044842772,55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1189536000,42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3049188491"/>
                  </a:ext>
                </a:extLst>
              </a:tr>
              <a:tr h="274064">
                <a:tc>
                  <a:txBody>
                    <a:bodyPr/>
                    <a:lstStyle/>
                    <a:p>
                      <a:pPr algn="ctr" fontAlgn="ctr">
                        <a:buNone/>
                      </a:pPr>
                      <a:r>
                        <a:rPr lang="fr-FR" sz="1100" b="0" i="0" u="none" strike="noStrike">
                          <a:solidFill>
                            <a:srgbClr val="FFFFFF"/>
                          </a:solidFill>
                          <a:effectLst/>
                          <a:latin typeface="Calibri" panose="020F0502020204030204" pitchFamily="34" charset="0"/>
                        </a:rPr>
                        <a:t>Résultat courant</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a:noFill/>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RE + Résultat financier</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a:noFill/>
                    </a:lnB>
                    <a:solidFill>
                      <a:srgbClr val="58B6C0"/>
                    </a:solidFill>
                  </a:tcPr>
                </a:tc>
                <a:tc>
                  <a:txBody>
                    <a:bodyPr/>
                    <a:lstStyle/>
                    <a:p>
                      <a:pPr algn="ctr" fontAlgn="ctr">
                        <a:buNone/>
                      </a:pPr>
                      <a:r>
                        <a:rPr lang="fr-FR" sz="1100" b="0" i="0" u="none" strike="noStrike" dirty="0">
                          <a:solidFill>
                            <a:srgbClr val="FFFFFF"/>
                          </a:solidFill>
                          <a:effectLst/>
                          <a:latin typeface="Calibri" panose="020F0502020204030204" pitchFamily="34" charset="0"/>
                        </a:rPr>
                        <a:t>389316264,42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a:noFill/>
                    </a:lnB>
                    <a:solidFill>
                      <a:srgbClr val="58B6C0"/>
                    </a:solidFill>
                  </a:tcPr>
                </a:tc>
                <a:tc>
                  <a:txBody>
                    <a:bodyPr/>
                    <a:lstStyle/>
                    <a:p>
                      <a:pPr algn="ctr" fontAlgn="ctr">
                        <a:buNone/>
                      </a:pPr>
                      <a:r>
                        <a:rPr lang="fr-FR" sz="1100" b="0" i="0" u="none" strike="noStrike" dirty="0">
                          <a:solidFill>
                            <a:srgbClr val="FFFFFF"/>
                          </a:solidFill>
                          <a:effectLst/>
                          <a:latin typeface="Calibri" panose="020F0502020204030204" pitchFamily="34" charset="0"/>
                        </a:rPr>
                        <a:t>1001978324,65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dirty="0">
                          <a:solidFill>
                            <a:srgbClr val="FFFFFF"/>
                          </a:solidFill>
                          <a:effectLst/>
                          <a:latin typeface="Calibri" panose="020F0502020204030204" pitchFamily="34" charset="0"/>
                        </a:rPr>
                        <a:t>1055380950,32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3802125219"/>
                  </a:ext>
                </a:extLst>
              </a:tr>
            </a:tbl>
          </a:graphicData>
        </a:graphic>
      </p:graphicFrame>
      <p:graphicFrame>
        <p:nvGraphicFramePr>
          <p:cNvPr id="2" name="Graphique 1">
            <a:extLst>
              <a:ext uri="{FF2B5EF4-FFF2-40B4-BE49-F238E27FC236}">
                <a16:creationId xmlns:a16="http://schemas.microsoft.com/office/drawing/2014/main" id="{5338E275-CE96-5672-E0A0-7F9E89A136E3}"/>
              </a:ext>
            </a:extLst>
          </p:cNvPr>
          <p:cNvGraphicFramePr>
            <a:graphicFrameLocks/>
          </p:cNvGraphicFramePr>
          <p:nvPr>
            <p:extLst>
              <p:ext uri="{D42A27DB-BD31-4B8C-83A1-F6EECF244321}">
                <p14:modId xmlns:p14="http://schemas.microsoft.com/office/powerpoint/2010/main" val="3945977874"/>
              </p:ext>
            </p:extLst>
          </p:nvPr>
        </p:nvGraphicFramePr>
        <p:xfrm>
          <a:off x="859957" y="985209"/>
          <a:ext cx="4901029" cy="199259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13491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8A8753-DC44-785D-5707-58CD1D3B713F}"/>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AD622F0E-4D77-BBBC-0EFA-6B7219B6A894}"/>
              </a:ext>
              <a:ext uri="{C183D7F6-B498-43B3-948B-1728B52AA6E4}">
                <adec:decorative xmlns:adec="http://schemas.microsoft.com/office/drawing/2017/decorative" val="1"/>
              </a:ext>
            </a:extLst>
          </p:cNvPr>
          <p:cNvSpPr/>
          <p:nvPr/>
        </p:nvSpPr>
        <p:spPr>
          <a:xfrm>
            <a:off x="221182" y="1236094"/>
            <a:ext cx="5992991" cy="3117981"/>
          </a:xfrm>
          <a:prstGeom prst="rect">
            <a:avLst/>
          </a:prstGeom>
          <a:ln/>
        </p:spPr>
        <p:style>
          <a:lnRef idx="2">
            <a:schemeClr val="accent6"/>
          </a:lnRef>
          <a:fillRef idx="1">
            <a:schemeClr val="lt1"/>
          </a:fillRef>
          <a:effectRef idx="0">
            <a:schemeClr val="accent6"/>
          </a:effectRef>
          <a:fontRef idx="minor">
            <a:schemeClr val="dk1"/>
          </a:fontRef>
        </p:style>
        <p:txBody>
          <a:bodyPr rtlCol="0" anchor="ctr"/>
          <a:lstStyle/>
          <a:p>
            <a:pPr algn="ctr" rtl="0"/>
            <a:endParaRPr lang="fr-FR" dirty="0"/>
          </a:p>
        </p:txBody>
      </p:sp>
      <p:sp>
        <p:nvSpPr>
          <p:cNvPr id="111" name="Zone de texte 47">
            <a:extLst>
              <a:ext uri="{FF2B5EF4-FFF2-40B4-BE49-F238E27FC236}">
                <a16:creationId xmlns:a16="http://schemas.microsoft.com/office/drawing/2014/main" id="{53A715F3-81D1-4304-7FB2-D477EEBE18A6}"/>
              </a:ext>
            </a:extLst>
          </p:cNvPr>
          <p:cNvSpPr txBox="1"/>
          <p:nvPr/>
        </p:nvSpPr>
        <p:spPr>
          <a:xfrm>
            <a:off x="6661474" y="1255988"/>
            <a:ext cx="4795360" cy="4708981"/>
          </a:xfrm>
          <a:prstGeom prst="rect">
            <a:avLst/>
          </a:prstGeom>
          <a:noFill/>
          <a:ln w="6350">
            <a:noFill/>
            <a:prstDash val="dash"/>
          </a:ln>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dirty="0"/>
              <a:t>Le taux d’endettement diminue progressivement, puisqu’il a passé de 1,7% en 2023 à seulement 0,6% en 2025. Cela montre que l’entreprise s’appuie de moins en moins sur les dettes, ce qui réduit ses risques financiers et renforce sa stabilité.</a:t>
            </a:r>
          </a:p>
          <a:p>
            <a:endParaRPr lang="fr-FR" dirty="0"/>
          </a:p>
          <a:p>
            <a:r>
              <a:rPr lang="fr-FR" dirty="0"/>
              <a:t>En même temps, l’autonomie financière augmente régulièrement, passant de 70% en 2023 à plus de 84% en 2025. Cela signifie que les capitaux propres représentent une part de plus en plus importante du total du passif, ce qui rend l’entreprise plus indépendante vis-à-vis des créanciers.</a:t>
            </a:r>
          </a:p>
          <a:p>
            <a:endParaRPr lang="fr-FR" dirty="0"/>
          </a:p>
          <a:p>
            <a:r>
              <a:rPr lang="fr-FR" dirty="0"/>
              <a:t>Le poids des dettes financières baisse aussi, de 1,2% à 0,5% sur la même période, ce qui confirme que les emprunts ont une place de plus en plus réduite dans la structure de financement.</a:t>
            </a:r>
          </a:p>
        </p:txBody>
      </p:sp>
      <p:sp>
        <p:nvSpPr>
          <p:cNvPr id="75" name="Rectangle : Coins arrondis 74">
            <a:extLst>
              <a:ext uri="{FF2B5EF4-FFF2-40B4-BE49-F238E27FC236}">
                <a16:creationId xmlns:a16="http://schemas.microsoft.com/office/drawing/2014/main" id="{CF9371B5-901B-FCB7-E43D-434F17AA1696}"/>
              </a:ext>
            </a:extLst>
          </p:cNvPr>
          <p:cNvSpPr/>
          <p:nvPr/>
        </p:nvSpPr>
        <p:spPr>
          <a:xfrm>
            <a:off x="943275" y="1012099"/>
            <a:ext cx="4614925" cy="492443"/>
          </a:xfrm>
          <a:prstGeom prst="roundRect">
            <a:avLst>
              <a:gd name="adj" fmla="val 50000"/>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defRPr sz="1400" b="0" i="0" u="none" strike="noStrike" kern="1200" spc="0" baseline="0">
                <a:solidFill>
                  <a:prstClr val="black">
                    <a:lumMod val="65000"/>
                    <a:lumOff val="35000"/>
                  </a:prstClr>
                </a:solidFill>
                <a:latin typeface="+mn-lt"/>
                <a:ea typeface="+mn-ea"/>
                <a:cs typeface="+mn-cs"/>
              </a:defRPr>
            </a:pPr>
            <a:r>
              <a:rPr lang="fr-FR" sz="1600" b="1" spc="50" dirty="0">
                <a:ln w="0"/>
                <a:solidFill>
                  <a:schemeClr val="bg2"/>
                </a:solidFill>
                <a:effectLst>
                  <a:innerShdw blurRad="63500" dist="50800" dir="13500000">
                    <a:srgbClr val="000000">
                      <a:alpha val="50000"/>
                    </a:srgbClr>
                  </a:innerShdw>
                </a:effectLst>
              </a:rPr>
              <a:t>        Évolution des ratios financiers (2023-2025)</a:t>
            </a:r>
          </a:p>
        </p:txBody>
      </p:sp>
      <p:sp>
        <p:nvSpPr>
          <p:cNvPr id="122" name="Ovale 121">
            <a:extLst>
              <a:ext uri="{FF2B5EF4-FFF2-40B4-BE49-F238E27FC236}">
                <a16:creationId xmlns:a16="http://schemas.microsoft.com/office/drawing/2014/main" id="{AB76B383-AA3B-5492-9846-92C072B00DB3}"/>
              </a:ext>
              <a:ext uri="{C183D7F6-B498-43B3-948B-1728B52AA6E4}">
                <adec:decorative xmlns:adec="http://schemas.microsoft.com/office/drawing/2017/decorative" val="1"/>
              </a:ext>
            </a:extLst>
          </p:cNvPr>
          <p:cNvSpPr/>
          <p:nvPr/>
        </p:nvSpPr>
        <p:spPr>
          <a:xfrm>
            <a:off x="1062499" y="1063106"/>
            <a:ext cx="385764" cy="3857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nvGrpSpPr>
          <p:cNvPr id="123" name="Groupe 122" descr="Ceci est une icône représentant un graphique à barres et un graphique en courbes. ">
            <a:extLst>
              <a:ext uri="{FF2B5EF4-FFF2-40B4-BE49-F238E27FC236}">
                <a16:creationId xmlns:a16="http://schemas.microsoft.com/office/drawing/2014/main" id="{8E4AC03C-344D-0FF0-E94E-6D796BB279FA}"/>
              </a:ext>
            </a:extLst>
          </p:cNvPr>
          <p:cNvGrpSpPr/>
          <p:nvPr/>
        </p:nvGrpSpPr>
        <p:grpSpPr>
          <a:xfrm>
            <a:off x="1157254" y="1125332"/>
            <a:ext cx="196255" cy="196255"/>
            <a:chOff x="4319588" y="2492375"/>
            <a:chExt cx="287338" cy="287338"/>
          </a:xfrm>
          <a:solidFill>
            <a:srgbClr val="CE295E"/>
          </a:solidFill>
        </p:grpSpPr>
        <p:sp>
          <p:nvSpPr>
            <p:cNvPr id="124" name="Forme libre 372">
              <a:extLst>
                <a:ext uri="{FF2B5EF4-FFF2-40B4-BE49-F238E27FC236}">
                  <a16:creationId xmlns:a16="http://schemas.microsoft.com/office/drawing/2014/main" id="{A44A86A0-758D-1FB9-3C16-9D6F170F89E3}"/>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rtl="0"/>
              <a:endParaRPr lang="fr-FR" dirty="0"/>
            </a:p>
          </p:txBody>
        </p:sp>
        <p:sp>
          <p:nvSpPr>
            <p:cNvPr id="125" name="Forme libre 373">
              <a:extLst>
                <a:ext uri="{FF2B5EF4-FFF2-40B4-BE49-F238E27FC236}">
                  <a16:creationId xmlns:a16="http://schemas.microsoft.com/office/drawing/2014/main" id="{2D97F9E1-5A39-36B0-EBE9-4C2E9C75CCBC}"/>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ln/>
          </p:spPr>
          <p:style>
            <a:lnRef idx="0">
              <a:schemeClr val="accent6"/>
            </a:lnRef>
            <a:fillRef idx="3">
              <a:schemeClr val="accent6"/>
            </a:fillRef>
            <a:effectRef idx="3">
              <a:schemeClr val="accent6"/>
            </a:effectRef>
            <a:fontRef idx="minor">
              <a:schemeClr val="lt1"/>
            </a:fontRef>
          </p:style>
          <p:txBody>
            <a:bodyPr vert="horz" wrap="square" lIns="91440" tIns="45720" rIns="91440" bIns="45720" numCol="1" rtlCol="0" anchor="t" anchorCtr="0" compatLnSpc="1">
              <a:prstTxWarp prst="textNoShape">
                <a:avLst/>
              </a:prstTxWarp>
            </a:bodyPr>
            <a:lstStyle/>
            <a:p>
              <a:pPr rtl="0"/>
              <a:endParaRPr lang="fr-FR" dirty="0"/>
            </a:p>
          </p:txBody>
        </p:sp>
      </p:grpSp>
      <p:sp>
        <p:nvSpPr>
          <p:cNvPr id="130" name="Espace réservé du numéro de diapositive 129">
            <a:extLst>
              <a:ext uri="{FF2B5EF4-FFF2-40B4-BE49-F238E27FC236}">
                <a16:creationId xmlns:a16="http://schemas.microsoft.com/office/drawing/2014/main" id="{6605C959-114D-FED9-7C84-1CE21993E247}"/>
              </a:ext>
            </a:extLst>
          </p:cNvPr>
          <p:cNvSpPr>
            <a:spLocks noGrp="1"/>
          </p:cNvSpPr>
          <p:nvPr>
            <p:ph type="sldNum" sz="quarter" idx="12"/>
          </p:nvPr>
        </p:nvSpPr>
        <p:spPr>
          <a:xfrm>
            <a:off x="11706225" y="590303"/>
            <a:ext cx="419100" cy="365125"/>
          </a:xfrm>
        </p:spPr>
        <p:txBody>
          <a:bodyPr rtlCol="0"/>
          <a:lstStyle/>
          <a:p>
            <a:pPr rtl="0"/>
            <a:fld id="{0FD50806-BABF-4915-9689-3B9956D1C75C}" type="slidenum">
              <a:rPr lang="fr-FR" smtClean="0"/>
              <a:pPr rtl="0"/>
              <a:t>5</a:t>
            </a:fld>
            <a:endParaRPr lang="fr-FR" dirty="0"/>
          </a:p>
        </p:txBody>
      </p:sp>
      <p:graphicFrame>
        <p:nvGraphicFramePr>
          <p:cNvPr id="3" name="Tableau 2">
            <a:extLst>
              <a:ext uri="{FF2B5EF4-FFF2-40B4-BE49-F238E27FC236}">
                <a16:creationId xmlns:a16="http://schemas.microsoft.com/office/drawing/2014/main" id="{A088822E-B4BA-BE25-FE0E-2D8EC91A1F49}"/>
              </a:ext>
            </a:extLst>
          </p:cNvPr>
          <p:cNvGraphicFramePr>
            <a:graphicFrameLocks noGrp="1"/>
          </p:cNvGraphicFramePr>
          <p:nvPr>
            <p:extLst>
              <p:ext uri="{D42A27DB-BD31-4B8C-83A1-F6EECF244321}">
                <p14:modId xmlns:p14="http://schemas.microsoft.com/office/powerpoint/2010/main" val="2073449115"/>
              </p:ext>
            </p:extLst>
          </p:nvPr>
        </p:nvGraphicFramePr>
        <p:xfrm>
          <a:off x="269015" y="4925311"/>
          <a:ext cx="6007100" cy="1393190"/>
        </p:xfrm>
        <a:graphic>
          <a:graphicData uri="http://schemas.openxmlformats.org/drawingml/2006/table">
            <a:tbl>
              <a:tblPr/>
              <a:tblGrid>
                <a:gridCol w="1117600">
                  <a:extLst>
                    <a:ext uri="{9D8B030D-6E8A-4147-A177-3AD203B41FA5}">
                      <a16:colId xmlns:a16="http://schemas.microsoft.com/office/drawing/2014/main" val="1572210918"/>
                    </a:ext>
                  </a:extLst>
                </a:gridCol>
                <a:gridCol w="1397000">
                  <a:extLst>
                    <a:ext uri="{9D8B030D-6E8A-4147-A177-3AD203B41FA5}">
                      <a16:colId xmlns:a16="http://schemas.microsoft.com/office/drawing/2014/main" val="319977780"/>
                    </a:ext>
                  </a:extLst>
                </a:gridCol>
                <a:gridCol w="1193800">
                  <a:extLst>
                    <a:ext uri="{9D8B030D-6E8A-4147-A177-3AD203B41FA5}">
                      <a16:colId xmlns:a16="http://schemas.microsoft.com/office/drawing/2014/main" val="1209004901"/>
                    </a:ext>
                  </a:extLst>
                </a:gridCol>
                <a:gridCol w="1257300">
                  <a:extLst>
                    <a:ext uri="{9D8B030D-6E8A-4147-A177-3AD203B41FA5}">
                      <a16:colId xmlns:a16="http://schemas.microsoft.com/office/drawing/2014/main" val="2919707333"/>
                    </a:ext>
                  </a:extLst>
                </a:gridCol>
                <a:gridCol w="1041400">
                  <a:extLst>
                    <a:ext uri="{9D8B030D-6E8A-4147-A177-3AD203B41FA5}">
                      <a16:colId xmlns:a16="http://schemas.microsoft.com/office/drawing/2014/main" val="3553426994"/>
                    </a:ext>
                  </a:extLst>
                </a:gridCol>
              </a:tblGrid>
              <a:tr h="368300">
                <a:tc>
                  <a:txBody>
                    <a:bodyPr/>
                    <a:lstStyle/>
                    <a:p>
                      <a:pPr algn="ctr" fontAlgn="ctr">
                        <a:buNone/>
                      </a:pPr>
                      <a:r>
                        <a:rPr lang="fr-FR" sz="1100" b="0" i="0" u="none" strike="noStrike" dirty="0">
                          <a:solidFill>
                            <a:srgbClr val="FFFFFF"/>
                          </a:solidFill>
                          <a:effectLst/>
                          <a:latin typeface="Calibri" panose="020F0502020204030204" pitchFamily="34" charset="0"/>
                        </a:rPr>
                        <a:t>Indicateurs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dirty="0">
                          <a:solidFill>
                            <a:srgbClr val="FFFFFF"/>
                          </a:solidFill>
                          <a:effectLst/>
                          <a:latin typeface="Calibri" panose="020F0502020204030204" pitchFamily="34" charset="0"/>
                        </a:rPr>
                        <a:t>Formules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2023</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2024</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tc>
                  <a:txBody>
                    <a:bodyPr/>
                    <a:lstStyle/>
                    <a:p>
                      <a:pPr algn="ctr" fontAlgn="t">
                        <a:buNone/>
                      </a:pPr>
                      <a:r>
                        <a:rPr lang="fr-FR" sz="1100" b="0" i="0" u="none" strike="noStrike">
                          <a:solidFill>
                            <a:srgbClr val="FFFFFF"/>
                          </a:solidFill>
                          <a:effectLst/>
                          <a:latin typeface="Calibri" panose="020F0502020204030204" pitchFamily="34" charset="0"/>
                        </a:rPr>
                        <a:t>2025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2683C6"/>
                    </a:solidFill>
                  </a:tcPr>
                </a:tc>
                <a:extLst>
                  <a:ext uri="{0D108BD9-81ED-4DB2-BD59-A6C34878D82A}">
                    <a16:rowId xmlns:a16="http://schemas.microsoft.com/office/drawing/2014/main" val="2311537613"/>
                  </a:ext>
                </a:extLst>
              </a:tr>
              <a:tr h="196850">
                <a:tc>
                  <a:txBody>
                    <a:bodyPr/>
                    <a:lstStyle/>
                    <a:p>
                      <a:pPr algn="ctr" fontAlgn="ctr">
                        <a:buNone/>
                      </a:pPr>
                      <a:r>
                        <a:rPr lang="fr-FR" sz="1100" b="0" i="0" u="none" strike="noStrike">
                          <a:solidFill>
                            <a:srgbClr val="FFFFFF"/>
                          </a:solidFill>
                          <a:effectLst/>
                          <a:latin typeface="Calibri" panose="020F0502020204030204" pitchFamily="34" charset="0"/>
                        </a:rPr>
                        <a:t>Taux d’endettement</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Dettes totales / Capitaux propres </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0,017284552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0,009560656</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0,006195362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4148564150"/>
                  </a:ext>
                </a:extLst>
              </a:tr>
              <a:tr h="196850">
                <a:tc>
                  <a:txBody>
                    <a:bodyPr/>
                    <a:lstStyle/>
                    <a:p>
                      <a:pPr algn="ctr" fontAlgn="ctr">
                        <a:buNone/>
                      </a:pPr>
                      <a:r>
                        <a:rPr lang="fr-FR" sz="1100" b="0" i="0" u="none" strike="noStrike">
                          <a:solidFill>
                            <a:srgbClr val="FFFFFF"/>
                          </a:solidFill>
                          <a:effectLst/>
                          <a:latin typeface="Calibri" panose="020F0502020204030204" pitchFamily="34" charset="0"/>
                        </a:rPr>
                        <a:t>Autonomie financière</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Capitaux propres / Total passif</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70,25%</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83,72%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84,87%</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2207507430"/>
                  </a:ext>
                </a:extLst>
              </a:tr>
              <a:tr h="196850">
                <a:tc>
                  <a:txBody>
                    <a:bodyPr/>
                    <a:lstStyle/>
                    <a:p>
                      <a:pPr algn="ctr" fontAlgn="ctr">
                        <a:buNone/>
                      </a:pPr>
                      <a:r>
                        <a:rPr lang="fr-FR" sz="1100" b="0" i="0" u="none" strike="noStrike">
                          <a:solidFill>
                            <a:srgbClr val="FFFFFF"/>
                          </a:solidFill>
                          <a:effectLst/>
                          <a:latin typeface="Calibri" panose="020F0502020204030204" pitchFamily="34" charset="0"/>
                        </a:rPr>
                        <a:t>Poids des dettes financières</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a:noFill/>
                    </a:lnB>
                    <a:solidFill>
                      <a:srgbClr val="58B6C0"/>
                    </a:solidFill>
                  </a:tcPr>
                </a:tc>
                <a:tc>
                  <a:txBody>
                    <a:bodyPr/>
                    <a:lstStyle/>
                    <a:p>
                      <a:pPr algn="ctr" fontAlgn="ctr">
                        <a:buNone/>
                      </a:pPr>
                      <a:r>
                        <a:rPr lang="fr-FR" sz="1100" b="0" i="0" u="none" strike="noStrike">
                          <a:solidFill>
                            <a:srgbClr val="FFFFFF"/>
                          </a:solidFill>
                          <a:effectLst/>
                          <a:latin typeface="Calibri" panose="020F0502020204030204" pitchFamily="34" charset="0"/>
                        </a:rPr>
                        <a:t>Dettes financières / Total passif</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a:noFill/>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0,01214308</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a:noFill/>
                    </a:lnB>
                    <a:solidFill>
                      <a:srgbClr val="58B6C0"/>
                    </a:solidFill>
                  </a:tcPr>
                </a:tc>
                <a:tc>
                  <a:txBody>
                    <a:bodyPr/>
                    <a:lstStyle/>
                    <a:p>
                      <a:pPr algn="ctr" fontAlgn="b">
                        <a:buNone/>
                      </a:pPr>
                      <a:r>
                        <a:rPr lang="fr-FR" sz="1100" b="0" i="0" u="none" strike="noStrike">
                          <a:solidFill>
                            <a:srgbClr val="FFFFFF"/>
                          </a:solidFill>
                          <a:effectLst/>
                          <a:latin typeface="Calibri" panose="020F0502020204030204" pitchFamily="34" charset="0"/>
                        </a:rPr>
                        <a:t>0,007582092</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tc>
                  <a:txBody>
                    <a:bodyPr/>
                    <a:lstStyle/>
                    <a:p>
                      <a:pPr algn="ctr" fontAlgn="b">
                        <a:buNone/>
                      </a:pPr>
                      <a:r>
                        <a:rPr lang="fr-FR" sz="1100" b="0" i="0" u="none" strike="noStrike" dirty="0">
                          <a:solidFill>
                            <a:srgbClr val="FFFFFF"/>
                          </a:solidFill>
                          <a:effectLst/>
                          <a:latin typeface="Calibri" panose="020F0502020204030204" pitchFamily="34" charset="0"/>
                        </a:rPr>
                        <a:t>0,005257871</a:t>
                      </a:r>
                    </a:p>
                  </a:txBody>
                  <a:tcPr marL="6350" marR="6350" marT="6350" marB="0" anchor="ctr">
                    <a:lnL w="6350" cap="flat" cmpd="sng" algn="ctr">
                      <a:solidFill>
                        <a:srgbClr val="3F3F3F"/>
                      </a:solidFill>
                      <a:prstDash val="solid"/>
                      <a:round/>
                      <a:headEnd type="none" w="med" len="med"/>
                      <a:tailEnd type="none" w="med" len="med"/>
                    </a:lnL>
                    <a:lnR w="6350" cap="flat" cmpd="sng" algn="ctr">
                      <a:solidFill>
                        <a:srgbClr val="3F3F3F"/>
                      </a:solidFill>
                      <a:prstDash val="solid"/>
                      <a:round/>
                      <a:headEnd type="none" w="med" len="med"/>
                      <a:tailEnd type="none" w="med" len="med"/>
                    </a:lnR>
                    <a:lnT w="6350" cap="flat" cmpd="sng" algn="ctr">
                      <a:solidFill>
                        <a:srgbClr val="3F3F3F"/>
                      </a:solidFill>
                      <a:prstDash val="solid"/>
                      <a:round/>
                      <a:headEnd type="none" w="med" len="med"/>
                      <a:tailEnd type="none" w="med" len="med"/>
                    </a:lnT>
                    <a:lnB w="6350" cap="flat" cmpd="sng" algn="ctr">
                      <a:solidFill>
                        <a:srgbClr val="3F3F3F"/>
                      </a:solidFill>
                      <a:prstDash val="solid"/>
                      <a:round/>
                      <a:headEnd type="none" w="med" len="med"/>
                      <a:tailEnd type="none" w="med" len="med"/>
                    </a:lnB>
                    <a:solidFill>
                      <a:srgbClr val="58B6C0"/>
                    </a:solidFill>
                  </a:tcPr>
                </a:tc>
                <a:extLst>
                  <a:ext uri="{0D108BD9-81ED-4DB2-BD59-A6C34878D82A}">
                    <a16:rowId xmlns:a16="http://schemas.microsoft.com/office/drawing/2014/main" val="3476220902"/>
                  </a:ext>
                </a:extLst>
              </a:tr>
            </a:tbl>
          </a:graphicData>
        </a:graphic>
      </p:graphicFrame>
      <p:graphicFrame>
        <p:nvGraphicFramePr>
          <p:cNvPr id="2" name="Graphique 1">
            <a:extLst>
              <a:ext uri="{FF2B5EF4-FFF2-40B4-BE49-F238E27FC236}">
                <a16:creationId xmlns:a16="http://schemas.microsoft.com/office/drawing/2014/main" id="{927EEBB5-BDB5-66F4-C7DD-2C1FF2FA0F40}"/>
              </a:ext>
            </a:extLst>
          </p:cNvPr>
          <p:cNvGraphicFramePr>
            <a:graphicFrameLocks/>
          </p:cNvGraphicFramePr>
          <p:nvPr>
            <p:extLst>
              <p:ext uri="{D42A27DB-BD31-4B8C-83A1-F6EECF244321}">
                <p14:modId xmlns:p14="http://schemas.microsoft.com/office/powerpoint/2010/main" val="1305230157"/>
              </p:ext>
            </p:extLst>
          </p:nvPr>
        </p:nvGraphicFramePr>
        <p:xfrm>
          <a:off x="668483" y="1603335"/>
          <a:ext cx="5098388" cy="27507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63916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98AD67-5AA4-441A-BB82-472C288413F8}"/>
              </a:ext>
            </a:extLst>
          </p:cNvPr>
          <p:cNvSpPr>
            <a:spLocks noGrp="1"/>
          </p:cNvSpPr>
          <p:nvPr>
            <p:ph type="title"/>
          </p:nvPr>
        </p:nvSpPr>
        <p:spPr>
          <a:xfrm>
            <a:off x="189564" y="-43067"/>
            <a:ext cx="4028091" cy="717001"/>
          </a:xfrm>
        </p:spPr>
        <p:txBody>
          <a:bodyPr rtlCol="0"/>
          <a:lstStyle/>
          <a:p>
            <a:pPr rtl="0"/>
            <a:r>
              <a:rPr lang="fr-FR" b="1" noProof="1">
                <a:ln w="9525">
                  <a:solidFill>
                    <a:schemeClr val="bg1"/>
                  </a:solidFill>
                  <a:prstDash val="solid"/>
                </a:ln>
                <a:solidFill>
                  <a:schemeClr val="accent6">
                    <a:lumMod val="50000"/>
                  </a:schemeClr>
                </a:solidFill>
                <a:effectLst>
                  <a:glow rad="63500">
                    <a:schemeClr val="accent6">
                      <a:satMod val="175000"/>
                      <a:alpha val="40000"/>
                    </a:schemeClr>
                  </a:glow>
                  <a:outerShdw blurRad="12700" dist="38100" dir="2700000" algn="tl" rotWithShape="0">
                    <a:schemeClr val="accent5">
                      <a:lumMod val="60000"/>
                      <a:lumOff val="40000"/>
                    </a:schemeClr>
                  </a:outerShdw>
                </a:effectLst>
              </a:rPr>
              <a:t>tableau de bord</a:t>
            </a:r>
          </a:p>
        </p:txBody>
      </p:sp>
      <p:sp>
        <p:nvSpPr>
          <p:cNvPr id="44" name="Rectangle 43">
            <a:extLst>
              <a:ext uri="{FF2B5EF4-FFF2-40B4-BE49-F238E27FC236}">
                <a16:creationId xmlns:a16="http://schemas.microsoft.com/office/drawing/2014/main" id="{0168AE60-C71A-4B80-811C-CAC02ADD32C2}"/>
              </a:ext>
            </a:extLst>
          </p:cNvPr>
          <p:cNvSpPr/>
          <p:nvPr/>
        </p:nvSpPr>
        <p:spPr>
          <a:xfrm>
            <a:off x="4686300" y="2768999"/>
            <a:ext cx="2819400" cy="600164"/>
          </a:xfrm>
          <a:prstGeom prst="rect">
            <a:avLst/>
          </a:prstGeom>
        </p:spPr>
        <p:txBody>
          <a:bodyPr wrap="square" rtlCol="0">
            <a:spAutoFit/>
          </a:bodyPr>
          <a:lstStyle/>
          <a:p>
            <a:pPr marL="174625" indent="-174625" rtl="0">
              <a:spcBef>
                <a:spcPts val="600"/>
              </a:spcBef>
              <a:buFont typeface="Segoe UI Light" panose="020B0502040204020203" pitchFamily="34" charset="0"/>
              <a:buChar char="›"/>
            </a:pPr>
            <a:r>
              <a:rPr lang="fr-FR" sz="1400" noProof="1">
                <a:solidFill>
                  <a:schemeClr val="bg1"/>
                </a:solidFill>
              </a:rPr>
              <a:t>35,41 % de la semaine dernière</a:t>
            </a:r>
          </a:p>
          <a:p>
            <a:pPr marL="174625" indent="-174625" rtl="0">
              <a:spcBef>
                <a:spcPts val="600"/>
              </a:spcBef>
              <a:buFont typeface="Segoe UI Light" panose="020B0502040204020203" pitchFamily="34" charset="0"/>
              <a:buChar char="›"/>
            </a:pPr>
            <a:r>
              <a:rPr lang="fr-FR" sz="1400" noProof="1">
                <a:solidFill>
                  <a:schemeClr val="bg1"/>
                </a:solidFill>
              </a:rPr>
              <a:t>29,47 % des 6 derniers mois</a:t>
            </a:r>
          </a:p>
        </p:txBody>
      </p:sp>
      <p:graphicFrame>
        <p:nvGraphicFramePr>
          <p:cNvPr id="9" name="Graphique 8">
            <a:extLst>
              <a:ext uri="{FF2B5EF4-FFF2-40B4-BE49-F238E27FC236}">
                <a16:creationId xmlns:a16="http://schemas.microsoft.com/office/drawing/2014/main" id="{E8B6FB32-67F7-4AA2-8B6E-08DBC21437B6}"/>
              </a:ext>
            </a:extLst>
          </p:cNvPr>
          <p:cNvGraphicFramePr>
            <a:graphicFrameLocks/>
          </p:cNvGraphicFramePr>
          <p:nvPr>
            <p:extLst>
              <p:ext uri="{D42A27DB-BD31-4B8C-83A1-F6EECF244321}">
                <p14:modId xmlns:p14="http://schemas.microsoft.com/office/powerpoint/2010/main" val="3969540401"/>
              </p:ext>
            </p:extLst>
          </p:nvPr>
        </p:nvGraphicFramePr>
        <p:xfrm>
          <a:off x="4167027" y="2331648"/>
          <a:ext cx="4013724" cy="20387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5" name="Graphique 224">
            <a:extLst>
              <a:ext uri="{FF2B5EF4-FFF2-40B4-BE49-F238E27FC236}">
                <a16:creationId xmlns:a16="http://schemas.microsoft.com/office/drawing/2014/main" id="{91F4FCB0-5471-45FE-B4B5-AF7B9BC78650}"/>
              </a:ext>
            </a:extLst>
          </p:cNvPr>
          <p:cNvGraphicFramePr>
            <a:graphicFrameLocks/>
          </p:cNvGraphicFramePr>
          <p:nvPr>
            <p:extLst>
              <p:ext uri="{D42A27DB-BD31-4B8C-83A1-F6EECF244321}">
                <p14:modId xmlns:p14="http://schemas.microsoft.com/office/powerpoint/2010/main" val="2231726858"/>
              </p:ext>
            </p:extLst>
          </p:nvPr>
        </p:nvGraphicFramePr>
        <p:xfrm>
          <a:off x="346509" y="4434367"/>
          <a:ext cx="3543068" cy="211081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6" name="Graphique 225">
            <a:extLst>
              <a:ext uri="{FF2B5EF4-FFF2-40B4-BE49-F238E27FC236}">
                <a16:creationId xmlns:a16="http://schemas.microsoft.com/office/drawing/2014/main" id="{B025B907-27D4-4C81-8A9E-4E657332CC90}"/>
              </a:ext>
            </a:extLst>
          </p:cNvPr>
          <p:cNvGraphicFramePr>
            <a:graphicFrameLocks/>
          </p:cNvGraphicFramePr>
          <p:nvPr>
            <p:extLst>
              <p:ext uri="{D42A27DB-BD31-4B8C-83A1-F6EECF244321}">
                <p14:modId xmlns:p14="http://schemas.microsoft.com/office/powerpoint/2010/main" val="1973904797"/>
              </p:ext>
            </p:extLst>
          </p:nvPr>
        </p:nvGraphicFramePr>
        <p:xfrm>
          <a:off x="4167027" y="4337057"/>
          <a:ext cx="3797464" cy="229292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27" name="Graphique 226">
            <a:extLst>
              <a:ext uri="{FF2B5EF4-FFF2-40B4-BE49-F238E27FC236}">
                <a16:creationId xmlns:a16="http://schemas.microsoft.com/office/drawing/2014/main" id="{AB2C3A03-0163-4EA6-AE64-88F9F264E32C}"/>
              </a:ext>
            </a:extLst>
          </p:cNvPr>
          <p:cNvGraphicFramePr>
            <a:graphicFrameLocks/>
          </p:cNvGraphicFramePr>
          <p:nvPr>
            <p:extLst>
              <p:ext uri="{D42A27DB-BD31-4B8C-83A1-F6EECF244321}">
                <p14:modId xmlns:p14="http://schemas.microsoft.com/office/powerpoint/2010/main" val="4034659147"/>
              </p:ext>
            </p:extLst>
          </p:nvPr>
        </p:nvGraphicFramePr>
        <p:xfrm>
          <a:off x="274305" y="2141440"/>
          <a:ext cx="3943350" cy="2292928"/>
        </p:xfrm>
        <a:graphic>
          <a:graphicData uri="http://schemas.openxmlformats.org/drawingml/2006/chart">
            <c:chart xmlns:c="http://schemas.openxmlformats.org/drawingml/2006/chart" xmlns:r="http://schemas.openxmlformats.org/officeDocument/2006/relationships" r:id="rId6"/>
          </a:graphicData>
        </a:graphic>
      </p:graphicFrame>
      <p:sp>
        <p:nvSpPr>
          <p:cNvPr id="236" name="Rectangle 235">
            <a:extLst>
              <a:ext uri="{FF2B5EF4-FFF2-40B4-BE49-F238E27FC236}">
                <a16:creationId xmlns:a16="http://schemas.microsoft.com/office/drawing/2014/main" id="{2707DEF0-BE4E-DA9A-2AD2-D1296BAA0568}"/>
              </a:ext>
            </a:extLst>
          </p:cNvPr>
          <p:cNvSpPr/>
          <p:nvPr/>
        </p:nvSpPr>
        <p:spPr>
          <a:xfrm>
            <a:off x="1064873" y="905210"/>
            <a:ext cx="2439740" cy="260409"/>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a:spcBef>
                <a:spcPts val="600"/>
              </a:spcBef>
            </a:pPr>
            <a:r>
              <a:rPr lang="fr-FR" sz="1400" dirty="0"/>
              <a:t>Chiffre d’affaires</a:t>
            </a:r>
            <a:endParaRPr lang="fr-FR" sz="1400" noProof="1"/>
          </a:p>
        </p:txBody>
      </p:sp>
      <p:sp>
        <p:nvSpPr>
          <p:cNvPr id="237" name="Rectangle 236">
            <a:extLst>
              <a:ext uri="{FF2B5EF4-FFF2-40B4-BE49-F238E27FC236}">
                <a16:creationId xmlns:a16="http://schemas.microsoft.com/office/drawing/2014/main" id="{CF284828-F4EE-0A81-98EF-52F74E39FBD2}"/>
              </a:ext>
            </a:extLst>
          </p:cNvPr>
          <p:cNvSpPr/>
          <p:nvPr/>
        </p:nvSpPr>
        <p:spPr>
          <a:xfrm>
            <a:off x="1064873" y="1447937"/>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3407639343,96</a:t>
            </a:r>
          </a:p>
        </p:txBody>
      </p:sp>
      <p:sp>
        <p:nvSpPr>
          <p:cNvPr id="238" name="Rectangle 237">
            <a:extLst>
              <a:ext uri="{FF2B5EF4-FFF2-40B4-BE49-F238E27FC236}">
                <a16:creationId xmlns:a16="http://schemas.microsoft.com/office/drawing/2014/main" id="{85284EE3-FAFD-785D-68EB-03B1B8095EF5}"/>
              </a:ext>
            </a:extLst>
          </p:cNvPr>
          <p:cNvSpPr/>
          <p:nvPr/>
        </p:nvSpPr>
        <p:spPr>
          <a:xfrm>
            <a:off x="1064873" y="1690784"/>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3639479582,98</a:t>
            </a:r>
          </a:p>
        </p:txBody>
      </p:sp>
      <p:sp>
        <p:nvSpPr>
          <p:cNvPr id="239" name="Rectangle 238">
            <a:extLst>
              <a:ext uri="{FF2B5EF4-FFF2-40B4-BE49-F238E27FC236}">
                <a16:creationId xmlns:a16="http://schemas.microsoft.com/office/drawing/2014/main" id="{DBCE3FD7-438A-6002-2FCF-DCABBCDFFBD1}"/>
              </a:ext>
            </a:extLst>
          </p:cNvPr>
          <p:cNvSpPr/>
          <p:nvPr/>
        </p:nvSpPr>
        <p:spPr>
          <a:xfrm>
            <a:off x="1064873" y="1194554"/>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1604542481,03</a:t>
            </a:r>
          </a:p>
        </p:txBody>
      </p:sp>
      <p:sp>
        <p:nvSpPr>
          <p:cNvPr id="240" name="Flèche : pentagone 239">
            <a:extLst>
              <a:ext uri="{FF2B5EF4-FFF2-40B4-BE49-F238E27FC236}">
                <a16:creationId xmlns:a16="http://schemas.microsoft.com/office/drawing/2014/main" id="{483D6C93-DC04-4761-B58C-56CB843E713E}"/>
              </a:ext>
            </a:extLst>
          </p:cNvPr>
          <p:cNvSpPr/>
          <p:nvPr/>
        </p:nvSpPr>
        <p:spPr>
          <a:xfrm>
            <a:off x="431176" y="1201745"/>
            <a:ext cx="553710" cy="236293"/>
          </a:xfrm>
          <a:prstGeom prst="homePlat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2" name="Flèche : pentagone 241">
            <a:extLst>
              <a:ext uri="{FF2B5EF4-FFF2-40B4-BE49-F238E27FC236}">
                <a16:creationId xmlns:a16="http://schemas.microsoft.com/office/drawing/2014/main" id="{D23D6786-EA5F-6BCE-A7DA-32D59CCA546B}"/>
              </a:ext>
            </a:extLst>
          </p:cNvPr>
          <p:cNvSpPr/>
          <p:nvPr/>
        </p:nvSpPr>
        <p:spPr>
          <a:xfrm>
            <a:off x="431176" y="1447936"/>
            <a:ext cx="553710" cy="236293"/>
          </a:xfrm>
          <a:prstGeom prst="homePlat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3" name="Flèche : pentagone 242">
            <a:extLst>
              <a:ext uri="{FF2B5EF4-FFF2-40B4-BE49-F238E27FC236}">
                <a16:creationId xmlns:a16="http://schemas.microsoft.com/office/drawing/2014/main" id="{DD447CEA-7E0C-4AD5-46EE-2DC0556592E3}"/>
              </a:ext>
            </a:extLst>
          </p:cNvPr>
          <p:cNvSpPr/>
          <p:nvPr/>
        </p:nvSpPr>
        <p:spPr>
          <a:xfrm>
            <a:off x="431176" y="1685767"/>
            <a:ext cx="553710" cy="236293"/>
          </a:xfrm>
          <a:prstGeom prst="homePlat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4" name="ZoneTexte 243">
            <a:extLst>
              <a:ext uri="{FF2B5EF4-FFF2-40B4-BE49-F238E27FC236}">
                <a16:creationId xmlns:a16="http://schemas.microsoft.com/office/drawing/2014/main" id="{10E37EEC-A4F4-EC4C-6164-E61814AF0C91}"/>
              </a:ext>
            </a:extLst>
          </p:cNvPr>
          <p:cNvSpPr txBox="1"/>
          <p:nvPr/>
        </p:nvSpPr>
        <p:spPr>
          <a:xfrm>
            <a:off x="431176" y="1184788"/>
            <a:ext cx="553710" cy="261610"/>
          </a:xfrm>
          <a:prstGeom prst="rect">
            <a:avLst/>
          </a:prstGeom>
          <a:noFill/>
        </p:spPr>
        <p:txBody>
          <a:bodyPr wrap="square" rtlCol="0">
            <a:spAutoFit/>
          </a:bodyPr>
          <a:lstStyle/>
          <a:p>
            <a:r>
              <a:rPr lang="fr-FR" sz="1100" dirty="0"/>
              <a:t>2023</a:t>
            </a:r>
          </a:p>
        </p:txBody>
      </p:sp>
      <p:sp>
        <p:nvSpPr>
          <p:cNvPr id="245" name="ZoneTexte 244">
            <a:extLst>
              <a:ext uri="{FF2B5EF4-FFF2-40B4-BE49-F238E27FC236}">
                <a16:creationId xmlns:a16="http://schemas.microsoft.com/office/drawing/2014/main" id="{E8A9671C-74BE-CEAE-A1A2-6824255D641B}"/>
              </a:ext>
            </a:extLst>
          </p:cNvPr>
          <p:cNvSpPr txBox="1"/>
          <p:nvPr/>
        </p:nvSpPr>
        <p:spPr>
          <a:xfrm>
            <a:off x="431176" y="1424972"/>
            <a:ext cx="553710" cy="261610"/>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fr-FR" sz="1100" dirty="0"/>
              <a:t>2024</a:t>
            </a:r>
          </a:p>
        </p:txBody>
      </p:sp>
      <p:sp>
        <p:nvSpPr>
          <p:cNvPr id="246" name="ZoneTexte 245">
            <a:extLst>
              <a:ext uri="{FF2B5EF4-FFF2-40B4-BE49-F238E27FC236}">
                <a16:creationId xmlns:a16="http://schemas.microsoft.com/office/drawing/2014/main" id="{D6A753A4-B2FB-1CF4-063B-991D62778D37}"/>
              </a:ext>
            </a:extLst>
          </p:cNvPr>
          <p:cNvSpPr txBox="1"/>
          <p:nvPr/>
        </p:nvSpPr>
        <p:spPr>
          <a:xfrm>
            <a:off x="431176" y="1657418"/>
            <a:ext cx="553710" cy="261610"/>
          </a:xfrm>
          <a:prstGeom prst="rect">
            <a:avLst/>
          </a:prstGeom>
          <a:noFill/>
        </p:spPr>
        <p:txBody>
          <a:bodyPr wrap="square" rtlCol="0">
            <a:spAutoFit/>
          </a:bodyPr>
          <a:lstStyle/>
          <a:p>
            <a:r>
              <a:rPr lang="fr-FR" sz="1100" dirty="0"/>
              <a:t>2025</a:t>
            </a:r>
          </a:p>
        </p:txBody>
      </p:sp>
      <p:sp>
        <p:nvSpPr>
          <p:cNvPr id="251" name="Rectangle 250">
            <a:extLst>
              <a:ext uri="{FF2B5EF4-FFF2-40B4-BE49-F238E27FC236}">
                <a16:creationId xmlns:a16="http://schemas.microsoft.com/office/drawing/2014/main" id="{932B29DF-18A4-E4BA-5B8D-8255493625B4}"/>
              </a:ext>
            </a:extLst>
          </p:cNvPr>
          <p:cNvSpPr/>
          <p:nvPr/>
        </p:nvSpPr>
        <p:spPr>
          <a:xfrm>
            <a:off x="3584600" y="905210"/>
            <a:ext cx="2439740" cy="260409"/>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a:spcBef>
                <a:spcPts val="600"/>
              </a:spcBef>
            </a:pPr>
            <a:r>
              <a:rPr lang="fr-FR" sz="1400" dirty="0"/>
              <a:t>Résultat net</a:t>
            </a:r>
            <a:endParaRPr lang="fr-FR" sz="1400" noProof="1"/>
          </a:p>
        </p:txBody>
      </p:sp>
      <p:sp>
        <p:nvSpPr>
          <p:cNvPr id="252" name="Rectangle 251">
            <a:extLst>
              <a:ext uri="{FF2B5EF4-FFF2-40B4-BE49-F238E27FC236}">
                <a16:creationId xmlns:a16="http://schemas.microsoft.com/office/drawing/2014/main" id="{FD75A6B7-224E-03F7-0B4F-AFF1E034CB91}"/>
              </a:ext>
            </a:extLst>
          </p:cNvPr>
          <p:cNvSpPr/>
          <p:nvPr/>
        </p:nvSpPr>
        <p:spPr>
          <a:xfrm>
            <a:off x="3584600" y="1447936"/>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992582615,93</a:t>
            </a:r>
          </a:p>
        </p:txBody>
      </p:sp>
      <p:sp>
        <p:nvSpPr>
          <p:cNvPr id="249" name="Rectangle 248">
            <a:extLst>
              <a:ext uri="{FF2B5EF4-FFF2-40B4-BE49-F238E27FC236}">
                <a16:creationId xmlns:a16="http://schemas.microsoft.com/office/drawing/2014/main" id="{65BED2DD-00E7-D320-972B-8E33C7B406F2}"/>
              </a:ext>
            </a:extLst>
          </p:cNvPr>
          <p:cNvSpPr/>
          <p:nvPr/>
        </p:nvSpPr>
        <p:spPr>
          <a:xfrm>
            <a:off x="3584600" y="1690784"/>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835343988,17</a:t>
            </a:r>
          </a:p>
        </p:txBody>
      </p:sp>
      <p:sp>
        <p:nvSpPr>
          <p:cNvPr id="250" name="Rectangle 249">
            <a:extLst>
              <a:ext uri="{FF2B5EF4-FFF2-40B4-BE49-F238E27FC236}">
                <a16:creationId xmlns:a16="http://schemas.microsoft.com/office/drawing/2014/main" id="{7C5553B0-E414-81FF-2186-D5CC7FE24A25}"/>
              </a:ext>
            </a:extLst>
          </p:cNvPr>
          <p:cNvSpPr/>
          <p:nvPr/>
        </p:nvSpPr>
        <p:spPr>
          <a:xfrm>
            <a:off x="3584600" y="1194554"/>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364919062,79</a:t>
            </a:r>
          </a:p>
        </p:txBody>
      </p:sp>
      <p:sp>
        <p:nvSpPr>
          <p:cNvPr id="1089" name="Rectangle 1088">
            <a:extLst>
              <a:ext uri="{FF2B5EF4-FFF2-40B4-BE49-F238E27FC236}">
                <a16:creationId xmlns:a16="http://schemas.microsoft.com/office/drawing/2014/main" id="{302DC426-3A3A-DF8A-9E45-8A0F6975E109}"/>
              </a:ext>
            </a:extLst>
          </p:cNvPr>
          <p:cNvSpPr/>
          <p:nvPr/>
        </p:nvSpPr>
        <p:spPr>
          <a:xfrm>
            <a:off x="6104327" y="900193"/>
            <a:ext cx="2439740" cy="260409"/>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a:spcBef>
                <a:spcPts val="600"/>
              </a:spcBef>
            </a:pPr>
            <a:r>
              <a:rPr lang="fr-FR" sz="1400" dirty="0"/>
              <a:t>Taux d’endettement</a:t>
            </a:r>
            <a:endParaRPr lang="fr-FR" sz="1400" noProof="1"/>
          </a:p>
        </p:txBody>
      </p:sp>
      <p:sp>
        <p:nvSpPr>
          <p:cNvPr id="1090" name="Rectangle 1089">
            <a:extLst>
              <a:ext uri="{FF2B5EF4-FFF2-40B4-BE49-F238E27FC236}">
                <a16:creationId xmlns:a16="http://schemas.microsoft.com/office/drawing/2014/main" id="{BAF6BFDD-DD27-FEC1-4062-245E3B503FDC}"/>
              </a:ext>
            </a:extLst>
          </p:cNvPr>
          <p:cNvSpPr/>
          <p:nvPr/>
        </p:nvSpPr>
        <p:spPr>
          <a:xfrm>
            <a:off x="6104327" y="1442919"/>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0,009560656</a:t>
            </a:r>
          </a:p>
        </p:txBody>
      </p:sp>
      <p:sp>
        <p:nvSpPr>
          <p:cNvPr id="255" name="Rectangle 254">
            <a:extLst>
              <a:ext uri="{FF2B5EF4-FFF2-40B4-BE49-F238E27FC236}">
                <a16:creationId xmlns:a16="http://schemas.microsoft.com/office/drawing/2014/main" id="{4E278DFE-A2A9-35F3-9DA3-89CB98F12358}"/>
              </a:ext>
            </a:extLst>
          </p:cNvPr>
          <p:cNvSpPr/>
          <p:nvPr/>
        </p:nvSpPr>
        <p:spPr>
          <a:xfrm>
            <a:off x="6104327" y="1685767"/>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0,006195362</a:t>
            </a:r>
          </a:p>
        </p:txBody>
      </p:sp>
      <p:sp>
        <p:nvSpPr>
          <p:cNvPr id="1088" name="Rectangle 1087">
            <a:extLst>
              <a:ext uri="{FF2B5EF4-FFF2-40B4-BE49-F238E27FC236}">
                <a16:creationId xmlns:a16="http://schemas.microsoft.com/office/drawing/2014/main" id="{447A6CCC-C516-1ED8-C5A9-5D513B2A3CD8}"/>
              </a:ext>
            </a:extLst>
          </p:cNvPr>
          <p:cNvSpPr/>
          <p:nvPr/>
        </p:nvSpPr>
        <p:spPr>
          <a:xfrm>
            <a:off x="6104327" y="1189537"/>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0,017284552</a:t>
            </a:r>
          </a:p>
        </p:txBody>
      </p:sp>
      <p:sp>
        <p:nvSpPr>
          <p:cNvPr id="1095" name="Rectangle 1094">
            <a:extLst>
              <a:ext uri="{FF2B5EF4-FFF2-40B4-BE49-F238E27FC236}">
                <a16:creationId xmlns:a16="http://schemas.microsoft.com/office/drawing/2014/main" id="{DFB685C1-2FDA-85E4-9430-99E058F9DE3F}"/>
              </a:ext>
            </a:extLst>
          </p:cNvPr>
          <p:cNvSpPr/>
          <p:nvPr/>
        </p:nvSpPr>
        <p:spPr>
          <a:xfrm>
            <a:off x="8624054" y="900193"/>
            <a:ext cx="2439740" cy="260409"/>
          </a:xfrm>
          <a:prstGeom prst="rect">
            <a:avLst/>
          </a:prstGeom>
          <a:ln/>
        </p:spPr>
        <p:style>
          <a:lnRef idx="0">
            <a:schemeClr val="accent6"/>
          </a:lnRef>
          <a:fillRef idx="3">
            <a:schemeClr val="accent6"/>
          </a:fillRef>
          <a:effectRef idx="3">
            <a:schemeClr val="accent6"/>
          </a:effectRef>
          <a:fontRef idx="minor">
            <a:schemeClr val="lt1"/>
          </a:fontRef>
        </p:style>
        <p:txBody>
          <a:bodyPr rtlCol="0" anchor="ctr"/>
          <a:lstStyle/>
          <a:p>
            <a:pPr>
              <a:spcBef>
                <a:spcPts val="600"/>
              </a:spcBef>
            </a:pPr>
            <a:r>
              <a:rPr lang="fr-FR" sz="1400" dirty="0"/>
              <a:t>Autonomie financière</a:t>
            </a:r>
            <a:endParaRPr lang="fr-FR" sz="1400" noProof="1"/>
          </a:p>
        </p:txBody>
      </p:sp>
      <p:sp>
        <p:nvSpPr>
          <p:cNvPr id="1096" name="Rectangle 1095">
            <a:extLst>
              <a:ext uri="{FF2B5EF4-FFF2-40B4-BE49-F238E27FC236}">
                <a16:creationId xmlns:a16="http://schemas.microsoft.com/office/drawing/2014/main" id="{A7FDC868-14DD-6CB3-FC2A-55444EBD07DC}"/>
              </a:ext>
            </a:extLst>
          </p:cNvPr>
          <p:cNvSpPr/>
          <p:nvPr/>
        </p:nvSpPr>
        <p:spPr>
          <a:xfrm>
            <a:off x="8624054" y="1442920"/>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83,72399343%</a:t>
            </a:r>
          </a:p>
        </p:txBody>
      </p:sp>
      <p:sp>
        <p:nvSpPr>
          <p:cNvPr id="1093" name="Rectangle 1092">
            <a:extLst>
              <a:ext uri="{FF2B5EF4-FFF2-40B4-BE49-F238E27FC236}">
                <a16:creationId xmlns:a16="http://schemas.microsoft.com/office/drawing/2014/main" id="{9FD0A90A-052F-A4AE-115B-C763986881FC}"/>
              </a:ext>
            </a:extLst>
          </p:cNvPr>
          <p:cNvSpPr/>
          <p:nvPr/>
        </p:nvSpPr>
        <p:spPr>
          <a:xfrm>
            <a:off x="8624054" y="1685767"/>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84,86785036%</a:t>
            </a:r>
          </a:p>
        </p:txBody>
      </p:sp>
      <p:sp>
        <p:nvSpPr>
          <p:cNvPr id="1094" name="Rectangle 1093">
            <a:extLst>
              <a:ext uri="{FF2B5EF4-FFF2-40B4-BE49-F238E27FC236}">
                <a16:creationId xmlns:a16="http://schemas.microsoft.com/office/drawing/2014/main" id="{410FF25B-8766-D975-861E-70854F4C0A63}"/>
              </a:ext>
            </a:extLst>
          </p:cNvPr>
          <p:cNvSpPr/>
          <p:nvPr/>
        </p:nvSpPr>
        <p:spPr>
          <a:xfrm>
            <a:off x="8624054" y="1189537"/>
            <a:ext cx="2439740" cy="23629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fr-FR" sz="1400" noProof="1">
                <a:solidFill>
                  <a:schemeClr val="bg1"/>
                </a:solidFill>
              </a:rPr>
              <a:t>70,25394881%</a:t>
            </a:r>
          </a:p>
        </p:txBody>
      </p:sp>
      <p:sp>
        <p:nvSpPr>
          <p:cNvPr id="1097" name="ZoneTexte 1096">
            <a:extLst>
              <a:ext uri="{FF2B5EF4-FFF2-40B4-BE49-F238E27FC236}">
                <a16:creationId xmlns:a16="http://schemas.microsoft.com/office/drawing/2014/main" id="{4763BEB9-FC70-F79E-C846-A7D1471F679D}"/>
              </a:ext>
            </a:extLst>
          </p:cNvPr>
          <p:cNvSpPr txBox="1"/>
          <p:nvPr/>
        </p:nvSpPr>
        <p:spPr>
          <a:xfrm>
            <a:off x="8624054" y="2818486"/>
            <a:ext cx="3247107" cy="3139321"/>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just"/>
            <a:r>
              <a:rPr lang="fr-FR" dirty="0">
                <a:ln w="0"/>
                <a:solidFill>
                  <a:srgbClr val="002060"/>
                </a:solidFill>
                <a:effectLst>
                  <a:outerShdw blurRad="38100" dist="25400" dir="5400000" algn="ctr" rotWithShape="0">
                    <a:srgbClr val="6E747A">
                      <a:alpha val="43000"/>
                    </a:srgbClr>
                  </a:outerShdw>
                </a:effectLst>
              </a:rPr>
              <a:t>Entre 2023 et 2025, l’OCP montre une évolution positive. Le chiffre d’affaires et le résultat net progressent, tandis que l’endettement diminue au profit d’une meilleure autonomie financière. Les indicateurs de rentabilité et de liquidité restent globalement stables, traduisant une gestion équilibrée et une solidité croissante.</a:t>
            </a:r>
          </a:p>
        </p:txBody>
      </p:sp>
    </p:spTree>
    <p:extLst>
      <p:ext uri="{BB962C8B-B14F-4D97-AF65-F5344CB8AC3E}">
        <p14:creationId xmlns:p14="http://schemas.microsoft.com/office/powerpoint/2010/main" val="244296000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3EC375F-F377-4CDC-ADF0-CC8811D177D6}">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D1B0ABC2-BF39-4F70-A7AD-9DFBD1D272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61A1251-DA89-493A-8204-679220DD13D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TM03090430[[fn=À bandes]]</Template>
  <TotalTime>151</TotalTime>
  <Words>1285</Words>
  <Application>Microsoft Office PowerPoint</Application>
  <PresentationFormat>Grand écran</PresentationFormat>
  <Paragraphs>181</Paragraphs>
  <Slides>6</Slides>
  <Notes>6</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6</vt:i4>
      </vt:variant>
    </vt:vector>
  </HeadingPairs>
  <TitlesOfParts>
    <vt:vector size="12" baseType="lpstr">
      <vt:lpstr>Arial</vt:lpstr>
      <vt:lpstr>Arial Rounded MT Bold</vt:lpstr>
      <vt:lpstr>Calibri</vt:lpstr>
      <vt:lpstr>Calibri Light</vt:lpstr>
      <vt:lpstr>Segoe UI Light</vt:lpstr>
      <vt:lpstr>Thème Office</vt:lpstr>
      <vt:lpstr>Diapositive 1</vt:lpstr>
      <vt:lpstr>Présentation PowerPoint</vt:lpstr>
      <vt:lpstr>Présentation PowerPoint</vt:lpstr>
      <vt:lpstr>Présentation PowerPoint</vt:lpstr>
      <vt:lpstr>Présentation PowerPoint</vt:lpstr>
      <vt:lpstr>tableau de bord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nouhaila naidi</dc:creator>
  <cp:lastModifiedBy>nouhaila naidi</cp:lastModifiedBy>
  <cp:revision>6</cp:revision>
  <dcterms:created xsi:type="dcterms:W3CDTF">2025-08-17T01:00:44Z</dcterms:created>
  <dcterms:modified xsi:type="dcterms:W3CDTF">2026-02-28T00:51:26Z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